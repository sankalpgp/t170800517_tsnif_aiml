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5" r:id="rId10"/>
    <p:sldId id="270" r:id="rId11"/>
    <p:sldId id="266" r:id="rId12"/>
    <p:sldId id="267" r:id="rId13"/>
    <p:sldId id="268" r:id="rId14"/>
    <p:sldId id="269"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 roundtripDataSignature="AMtx7mjVbKSE3o/eYBIKbAgkcIW7PGNBe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p:cViewPr varScale="1">
        <p:scale>
          <a:sx n="78" d="100"/>
          <a:sy n="78" d="100"/>
        </p:scale>
        <p:origin x="71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DCAEBE7-B6F7-410B-833F-824769B0E474}" type="doc">
      <dgm:prSet loTypeId="urn:microsoft.com/office/officeart/2005/8/layout/process1" loCatId="process" qsTypeId="urn:microsoft.com/office/officeart/2005/8/quickstyle/3d3" qsCatId="3D" csTypeId="urn:microsoft.com/office/officeart/2005/8/colors/accent1_2" csCatId="accent1" phldr="1"/>
      <dgm:spPr/>
    </dgm:pt>
    <dgm:pt modelId="{8313B14C-86ED-4069-935B-42338C7C0827}">
      <dgm:prSet phldrT="[Text]"/>
      <dgm:spPr/>
      <dgm:t>
        <a:bodyPr/>
        <a:lstStyle/>
        <a:p>
          <a:pPr>
            <a:buNone/>
          </a:pPr>
          <a:r>
            <a:rPr lang="en-IN" dirty="0"/>
            <a:t>Patient Dataset</a:t>
          </a:r>
        </a:p>
      </dgm:t>
    </dgm:pt>
    <dgm:pt modelId="{9EFA328D-B180-4246-B024-96181B3E00EB}" type="parTrans" cxnId="{9091589A-0F57-459F-9F4B-B17848C9311C}">
      <dgm:prSet/>
      <dgm:spPr/>
      <dgm:t>
        <a:bodyPr/>
        <a:lstStyle/>
        <a:p>
          <a:endParaRPr lang="en-IN"/>
        </a:p>
      </dgm:t>
    </dgm:pt>
    <dgm:pt modelId="{291A3079-49CB-4221-B564-45557AE9E1FB}" type="sibTrans" cxnId="{9091589A-0F57-459F-9F4B-B17848C9311C}">
      <dgm:prSet/>
      <dgm:spPr/>
      <dgm:t>
        <a:bodyPr/>
        <a:lstStyle/>
        <a:p>
          <a:endParaRPr lang="en-IN"/>
        </a:p>
      </dgm:t>
    </dgm:pt>
    <dgm:pt modelId="{2282FAA6-2ABC-4D30-8E84-9E9141B301FC}">
      <dgm:prSet phldrT="[Text]"/>
      <dgm:spPr/>
      <dgm:t>
        <a:bodyPr/>
        <a:lstStyle/>
        <a:p>
          <a:pPr>
            <a:buNone/>
          </a:pPr>
          <a:r>
            <a:rPr lang="en-IN" dirty="0"/>
            <a:t>Data Preprocessing</a:t>
          </a:r>
        </a:p>
      </dgm:t>
    </dgm:pt>
    <dgm:pt modelId="{9FE58D2B-8AE1-47CE-B740-2AF4A3BF90D3}" type="parTrans" cxnId="{D154654C-120F-499C-9193-525267718C9B}">
      <dgm:prSet/>
      <dgm:spPr/>
      <dgm:t>
        <a:bodyPr/>
        <a:lstStyle/>
        <a:p>
          <a:endParaRPr lang="en-IN"/>
        </a:p>
      </dgm:t>
    </dgm:pt>
    <dgm:pt modelId="{98F46C6D-6663-4621-9A1B-CD2A1B4AD5FC}" type="sibTrans" cxnId="{D154654C-120F-499C-9193-525267718C9B}">
      <dgm:prSet/>
      <dgm:spPr/>
      <dgm:t>
        <a:bodyPr/>
        <a:lstStyle/>
        <a:p>
          <a:endParaRPr lang="en-IN"/>
        </a:p>
      </dgm:t>
    </dgm:pt>
    <dgm:pt modelId="{3B3E3070-0A7E-4470-B89E-818EF875284B}">
      <dgm:prSet/>
      <dgm:spPr/>
      <dgm:t>
        <a:bodyPr/>
        <a:lstStyle/>
        <a:p>
          <a:r>
            <a:rPr lang="en-IN"/>
            <a:t>Train–Test Split</a:t>
          </a:r>
          <a:endParaRPr lang="en-IN" dirty="0"/>
        </a:p>
      </dgm:t>
    </dgm:pt>
    <dgm:pt modelId="{B71BDE76-BB22-43CA-9297-67685CE17D7D}" type="parTrans" cxnId="{B490A7D2-5DF1-4210-981F-CCBF29AE9B35}">
      <dgm:prSet/>
      <dgm:spPr/>
      <dgm:t>
        <a:bodyPr/>
        <a:lstStyle/>
        <a:p>
          <a:endParaRPr lang="en-IN"/>
        </a:p>
      </dgm:t>
    </dgm:pt>
    <dgm:pt modelId="{7D3829BD-B9F7-4F45-8F66-BD59554B716F}" type="sibTrans" cxnId="{B490A7D2-5DF1-4210-981F-CCBF29AE9B35}">
      <dgm:prSet/>
      <dgm:spPr/>
      <dgm:t>
        <a:bodyPr/>
        <a:lstStyle/>
        <a:p>
          <a:endParaRPr lang="en-IN"/>
        </a:p>
      </dgm:t>
    </dgm:pt>
    <dgm:pt modelId="{09D70F02-9ADC-44F3-AAEE-35E3127AB9DF}">
      <dgm:prSet/>
      <dgm:spPr/>
      <dgm:t>
        <a:bodyPr/>
        <a:lstStyle/>
        <a:p>
          <a:r>
            <a:rPr lang="en-IN"/>
            <a:t>Classification Model Training</a:t>
          </a:r>
          <a:endParaRPr lang="en-IN" dirty="0"/>
        </a:p>
      </dgm:t>
    </dgm:pt>
    <dgm:pt modelId="{BF0480A1-D9D0-4365-BCE7-0C069CF547E7}" type="parTrans" cxnId="{CFE3B2F3-9170-46E8-AD24-6584983DE709}">
      <dgm:prSet/>
      <dgm:spPr/>
      <dgm:t>
        <a:bodyPr/>
        <a:lstStyle/>
        <a:p>
          <a:endParaRPr lang="en-IN"/>
        </a:p>
      </dgm:t>
    </dgm:pt>
    <dgm:pt modelId="{DB874F14-7806-48DC-9EE4-3C016D6272F4}" type="sibTrans" cxnId="{CFE3B2F3-9170-46E8-AD24-6584983DE709}">
      <dgm:prSet/>
      <dgm:spPr/>
      <dgm:t>
        <a:bodyPr/>
        <a:lstStyle/>
        <a:p>
          <a:endParaRPr lang="en-IN"/>
        </a:p>
      </dgm:t>
    </dgm:pt>
    <dgm:pt modelId="{A854639F-194C-4E65-B3DD-E612E232D073}">
      <dgm:prSet/>
      <dgm:spPr/>
      <dgm:t>
        <a:bodyPr/>
        <a:lstStyle/>
        <a:p>
          <a:r>
            <a:rPr lang="en-IN"/>
            <a:t>Model Evaluation</a:t>
          </a:r>
          <a:endParaRPr lang="en-IN" dirty="0"/>
        </a:p>
      </dgm:t>
    </dgm:pt>
    <dgm:pt modelId="{A72B53FF-6FF6-4B49-A586-C4FFFC5DAA30}" type="parTrans" cxnId="{82489FE1-D845-4F1B-9B9E-1D07CA0912D7}">
      <dgm:prSet/>
      <dgm:spPr/>
      <dgm:t>
        <a:bodyPr/>
        <a:lstStyle/>
        <a:p>
          <a:endParaRPr lang="en-IN"/>
        </a:p>
      </dgm:t>
    </dgm:pt>
    <dgm:pt modelId="{3EA9D4E5-5701-4913-9E48-7C4BE10E76CE}" type="sibTrans" cxnId="{82489FE1-D845-4F1B-9B9E-1D07CA0912D7}">
      <dgm:prSet/>
      <dgm:spPr/>
      <dgm:t>
        <a:bodyPr/>
        <a:lstStyle/>
        <a:p>
          <a:endParaRPr lang="en-IN"/>
        </a:p>
      </dgm:t>
    </dgm:pt>
    <dgm:pt modelId="{4A839CBD-5DB5-4B60-AF7D-11F5A8858982}">
      <dgm:prSet/>
      <dgm:spPr/>
      <dgm:t>
        <a:bodyPr/>
        <a:lstStyle/>
        <a:p>
          <a:r>
            <a:rPr lang="en-IN"/>
            <a:t>Final Model Selection</a:t>
          </a:r>
          <a:endParaRPr lang="en-IN" dirty="0"/>
        </a:p>
      </dgm:t>
    </dgm:pt>
    <dgm:pt modelId="{31AD32F9-003D-4F26-B3BF-66606E396555}" type="parTrans" cxnId="{3F775E65-42ED-4EF6-AB87-EB88F8DF381E}">
      <dgm:prSet/>
      <dgm:spPr/>
      <dgm:t>
        <a:bodyPr/>
        <a:lstStyle/>
        <a:p>
          <a:endParaRPr lang="en-IN"/>
        </a:p>
      </dgm:t>
    </dgm:pt>
    <dgm:pt modelId="{854C2B8A-5D43-472F-90B4-4ECE1EDF1F2B}" type="sibTrans" cxnId="{3F775E65-42ED-4EF6-AB87-EB88F8DF381E}">
      <dgm:prSet/>
      <dgm:spPr/>
      <dgm:t>
        <a:bodyPr/>
        <a:lstStyle/>
        <a:p>
          <a:endParaRPr lang="en-IN"/>
        </a:p>
      </dgm:t>
    </dgm:pt>
    <dgm:pt modelId="{E6B11729-7498-4432-ABE6-ED3D9F648A17}" type="pres">
      <dgm:prSet presAssocID="{4DCAEBE7-B6F7-410B-833F-824769B0E474}" presName="Name0" presStyleCnt="0">
        <dgm:presLayoutVars>
          <dgm:dir/>
          <dgm:resizeHandles val="exact"/>
        </dgm:presLayoutVars>
      </dgm:prSet>
      <dgm:spPr/>
    </dgm:pt>
    <dgm:pt modelId="{0510C9D1-3E6D-48E7-A044-3317343942DE}" type="pres">
      <dgm:prSet presAssocID="{8313B14C-86ED-4069-935B-42338C7C0827}" presName="node" presStyleLbl="node1" presStyleIdx="0" presStyleCnt="6">
        <dgm:presLayoutVars>
          <dgm:bulletEnabled val="1"/>
        </dgm:presLayoutVars>
      </dgm:prSet>
      <dgm:spPr/>
    </dgm:pt>
    <dgm:pt modelId="{092EFF00-C508-4335-B3E8-647374DA8831}" type="pres">
      <dgm:prSet presAssocID="{291A3079-49CB-4221-B564-45557AE9E1FB}" presName="sibTrans" presStyleLbl="sibTrans2D1" presStyleIdx="0" presStyleCnt="5"/>
      <dgm:spPr/>
    </dgm:pt>
    <dgm:pt modelId="{61C22ADE-2CBB-4B24-9E83-066620B4914D}" type="pres">
      <dgm:prSet presAssocID="{291A3079-49CB-4221-B564-45557AE9E1FB}" presName="connectorText" presStyleLbl="sibTrans2D1" presStyleIdx="0" presStyleCnt="5"/>
      <dgm:spPr/>
    </dgm:pt>
    <dgm:pt modelId="{80E8F211-936A-40DD-B37E-5A7B4F9A7DDF}" type="pres">
      <dgm:prSet presAssocID="{2282FAA6-2ABC-4D30-8E84-9E9141B301FC}" presName="node" presStyleLbl="node1" presStyleIdx="1" presStyleCnt="6">
        <dgm:presLayoutVars>
          <dgm:bulletEnabled val="1"/>
        </dgm:presLayoutVars>
      </dgm:prSet>
      <dgm:spPr/>
    </dgm:pt>
    <dgm:pt modelId="{5556AEFD-9423-4514-9207-1749F47F8035}" type="pres">
      <dgm:prSet presAssocID="{98F46C6D-6663-4621-9A1B-CD2A1B4AD5FC}" presName="sibTrans" presStyleLbl="sibTrans2D1" presStyleIdx="1" presStyleCnt="5"/>
      <dgm:spPr/>
    </dgm:pt>
    <dgm:pt modelId="{906D33E0-A2CF-415E-8BCD-7C7F426B9E69}" type="pres">
      <dgm:prSet presAssocID="{98F46C6D-6663-4621-9A1B-CD2A1B4AD5FC}" presName="connectorText" presStyleLbl="sibTrans2D1" presStyleIdx="1" presStyleCnt="5"/>
      <dgm:spPr/>
    </dgm:pt>
    <dgm:pt modelId="{AAAB7B3F-C390-4DA7-B97F-3991BD51185D}" type="pres">
      <dgm:prSet presAssocID="{3B3E3070-0A7E-4470-B89E-818EF875284B}" presName="node" presStyleLbl="node1" presStyleIdx="2" presStyleCnt="6">
        <dgm:presLayoutVars>
          <dgm:bulletEnabled val="1"/>
        </dgm:presLayoutVars>
      </dgm:prSet>
      <dgm:spPr/>
    </dgm:pt>
    <dgm:pt modelId="{3C2E80EC-21B5-400F-B88C-34C1ACC8BED0}" type="pres">
      <dgm:prSet presAssocID="{7D3829BD-B9F7-4F45-8F66-BD59554B716F}" presName="sibTrans" presStyleLbl="sibTrans2D1" presStyleIdx="2" presStyleCnt="5"/>
      <dgm:spPr/>
    </dgm:pt>
    <dgm:pt modelId="{A0234AA5-12CF-4C46-8CB1-81B54FF1241D}" type="pres">
      <dgm:prSet presAssocID="{7D3829BD-B9F7-4F45-8F66-BD59554B716F}" presName="connectorText" presStyleLbl="sibTrans2D1" presStyleIdx="2" presStyleCnt="5"/>
      <dgm:spPr/>
    </dgm:pt>
    <dgm:pt modelId="{260E845A-7C5D-4C66-A650-1B3539B7E0A1}" type="pres">
      <dgm:prSet presAssocID="{09D70F02-9ADC-44F3-AAEE-35E3127AB9DF}" presName="node" presStyleLbl="node1" presStyleIdx="3" presStyleCnt="6">
        <dgm:presLayoutVars>
          <dgm:bulletEnabled val="1"/>
        </dgm:presLayoutVars>
      </dgm:prSet>
      <dgm:spPr/>
    </dgm:pt>
    <dgm:pt modelId="{11C5D161-4279-4851-B8E4-3D43B43B2110}" type="pres">
      <dgm:prSet presAssocID="{DB874F14-7806-48DC-9EE4-3C016D6272F4}" presName="sibTrans" presStyleLbl="sibTrans2D1" presStyleIdx="3" presStyleCnt="5"/>
      <dgm:spPr/>
    </dgm:pt>
    <dgm:pt modelId="{34DC9F44-3A89-4A59-BCAB-01CF3E97B030}" type="pres">
      <dgm:prSet presAssocID="{DB874F14-7806-48DC-9EE4-3C016D6272F4}" presName="connectorText" presStyleLbl="sibTrans2D1" presStyleIdx="3" presStyleCnt="5"/>
      <dgm:spPr/>
    </dgm:pt>
    <dgm:pt modelId="{51E082B5-9785-4CDB-8C20-C421F8C09823}" type="pres">
      <dgm:prSet presAssocID="{A854639F-194C-4E65-B3DD-E612E232D073}" presName="node" presStyleLbl="node1" presStyleIdx="4" presStyleCnt="6">
        <dgm:presLayoutVars>
          <dgm:bulletEnabled val="1"/>
        </dgm:presLayoutVars>
      </dgm:prSet>
      <dgm:spPr/>
    </dgm:pt>
    <dgm:pt modelId="{D378C305-B369-4F84-8D71-2AEAFDA336CB}" type="pres">
      <dgm:prSet presAssocID="{3EA9D4E5-5701-4913-9E48-7C4BE10E76CE}" presName="sibTrans" presStyleLbl="sibTrans2D1" presStyleIdx="4" presStyleCnt="5"/>
      <dgm:spPr/>
    </dgm:pt>
    <dgm:pt modelId="{EAFFF4E1-C783-480B-8244-B3FE70EEDA7C}" type="pres">
      <dgm:prSet presAssocID="{3EA9D4E5-5701-4913-9E48-7C4BE10E76CE}" presName="connectorText" presStyleLbl="sibTrans2D1" presStyleIdx="4" presStyleCnt="5"/>
      <dgm:spPr/>
    </dgm:pt>
    <dgm:pt modelId="{DA86FBE7-7C32-44AC-8540-068C56F8D255}" type="pres">
      <dgm:prSet presAssocID="{4A839CBD-5DB5-4B60-AF7D-11F5A8858982}" presName="node" presStyleLbl="node1" presStyleIdx="5" presStyleCnt="6">
        <dgm:presLayoutVars>
          <dgm:bulletEnabled val="1"/>
        </dgm:presLayoutVars>
      </dgm:prSet>
      <dgm:spPr/>
    </dgm:pt>
  </dgm:ptLst>
  <dgm:cxnLst>
    <dgm:cxn modelId="{B3552C0E-F8BC-405C-82FC-BED3678BA71A}" type="presOf" srcId="{3EA9D4E5-5701-4913-9E48-7C4BE10E76CE}" destId="{EAFFF4E1-C783-480B-8244-B3FE70EEDA7C}" srcOrd="1" destOrd="0" presId="urn:microsoft.com/office/officeart/2005/8/layout/process1"/>
    <dgm:cxn modelId="{2D680D16-2671-4A55-9E06-6E07BA488537}" type="presOf" srcId="{DB874F14-7806-48DC-9EE4-3C016D6272F4}" destId="{11C5D161-4279-4851-B8E4-3D43B43B2110}" srcOrd="0" destOrd="0" presId="urn:microsoft.com/office/officeart/2005/8/layout/process1"/>
    <dgm:cxn modelId="{A8725F1D-2DF5-4D2A-A62B-E41DD2F63E8D}" type="presOf" srcId="{4DCAEBE7-B6F7-410B-833F-824769B0E474}" destId="{E6B11729-7498-4432-ABE6-ED3D9F648A17}" srcOrd="0" destOrd="0" presId="urn:microsoft.com/office/officeart/2005/8/layout/process1"/>
    <dgm:cxn modelId="{0A648A24-42E2-4B09-B4A0-96DC75F4ED37}" type="presOf" srcId="{A854639F-194C-4E65-B3DD-E612E232D073}" destId="{51E082B5-9785-4CDB-8C20-C421F8C09823}" srcOrd="0" destOrd="0" presId="urn:microsoft.com/office/officeart/2005/8/layout/process1"/>
    <dgm:cxn modelId="{A95C9426-23B6-4971-87E4-85A53CE50391}" type="presOf" srcId="{98F46C6D-6663-4621-9A1B-CD2A1B4AD5FC}" destId="{5556AEFD-9423-4514-9207-1749F47F8035}" srcOrd="0" destOrd="0" presId="urn:microsoft.com/office/officeart/2005/8/layout/process1"/>
    <dgm:cxn modelId="{88C56F44-3A27-4457-BB5C-AC0FA37A5EF2}" type="presOf" srcId="{7D3829BD-B9F7-4F45-8F66-BD59554B716F}" destId="{A0234AA5-12CF-4C46-8CB1-81B54FF1241D}" srcOrd="1" destOrd="0" presId="urn:microsoft.com/office/officeart/2005/8/layout/process1"/>
    <dgm:cxn modelId="{3F775E65-42ED-4EF6-AB87-EB88F8DF381E}" srcId="{4DCAEBE7-B6F7-410B-833F-824769B0E474}" destId="{4A839CBD-5DB5-4B60-AF7D-11F5A8858982}" srcOrd="5" destOrd="0" parTransId="{31AD32F9-003D-4F26-B3BF-66606E396555}" sibTransId="{854C2B8A-5D43-472F-90B4-4ECE1EDF1F2B}"/>
    <dgm:cxn modelId="{7CDB5647-E3B7-4373-A6AE-EB12B5ADF5D7}" type="presOf" srcId="{291A3079-49CB-4221-B564-45557AE9E1FB}" destId="{61C22ADE-2CBB-4B24-9E83-066620B4914D}" srcOrd="1" destOrd="0" presId="urn:microsoft.com/office/officeart/2005/8/layout/process1"/>
    <dgm:cxn modelId="{6FFEE448-F33C-43DD-995A-6CD80279372E}" type="presOf" srcId="{DB874F14-7806-48DC-9EE4-3C016D6272F4}" destId="{34DC9F44-3A89-4A59-BCAB-01CF3E97B030}" srcOrd="1" destOrd="0" presId="urn:microsoft.com/office/officeart/2005/8/layout/process1"/>
    <dgm:cxn modelId="{60A50D6B-B0B5-41EC-901C-DADC06E91FD4}" type="presOf" srcId="{2282FAA6-2ABC-4D30-8E84-9E9141B301FC}" destId="{80E8F211-936A-40DD-B37E-5A7B4F9A7DDF}" srcOrd="0" destOrd="0" presId="urn:microsoft.com/office/officeart/2005/8/layout/process1"/>
    <dgm:cxn modelId="{D154654C-120F-499C-9193-525267718C9B}" srcId="{4DCAEBE7-B6F7-410B-833F-824769B0E474}" destId="{2282FAA6-2ABC-4D30-8E84-9E9141B301FC}" srcOrd="1" destOrd="0" parTransId="{9FE58D2B-8AE1-47CE-B740-2AF4A3BF90D3}" sibTransId="{98F46C6D-6663-4621-9A1B-CD2A1B4AD5FC}"/>
    <dgm:cxn modelId="{B84F1F4E-9605-4B23-BFE2-D8DAB0B8FE5E}" type="presOf" srcId="{3B3E3070-0A7E-4470-B89E-818EF875284B}" destId="{AAAB7B3F-C390-4DA7-B97F-3991BD51185D}" srcOrd="0" destOrd="0" presId="urn:microsoft.com/office/officeart/2005/8/layout/process1"/>
    <dgm:cxn modelId="{CDABAD86-E77B-4837-BCC4-F113E2312239}" type="presOf" srcId="{3EA9D4E5-5701-4913-9E48-7C4BE10E76CE}" destId="{D378C305-B369-4F84-8D71-2AEAFDA336CB}" srcOrd="0" destOrd="0" presId="urn:microsoft.com/office/officeart/2005/8/layout/process1"/>
    <dgm:cxn modelId="{BC20978E-C79A-4C60-A240-57B5272EB336}" type="presOf" srcId="{7D3829BD-B9F7-4F45-8F66-BD59554B716F}" destId="{3C2E80EC-21B5-400F-B88C-34C1ACC8BED0}" srcOrd="0" destOrd="0" presId="urn:microsoft.com/office/officeart/2005/8/layout/process1"/>
    <dgm:cxn modelId="{008C978F-43CB-4EDA-97BB-E11CFBDC307F}" type="presOf" srcId="{291A3079-49CB-4221-B564-45557AE9E1FB}" destId="{092EFF00-C508-4335-B3E8-647374DA8831}" srcOrd="0" destOrd="0" presId="urn:microsoft.com/office/officeart/2005/8/layout/process1"/>
    <dgm:cxn modelId="{9091589A-0F57-459F-9F4B-B17848C9311C}" srcId="{4DCAEBE7-B6F7-410B-833F-824769B0E474}" destId="{8313B14C-86ED-4069-935B-42338C7C0827}" srcOrd="0" destOrd="0" parTransId="{9EFA328D-B180-4246-B024-96181B3E00EB}" sibTransId="{291A3079-49CB-4221-B564-45557AE9E1FB}"/>
    <dgm:cxn modelId="{752797A4-D75C-4AEF-A6B7-1C5F1F778FA5}" type="presOf" srcId="{98F46C6D-6663-4621-9A1B-CD2A1B4AD5FC}" destId="{906D33E0-A2CF-415E-8BCD-7C7F426B9E69}" srcOrd="1" destOrd="0" presId="urn:microsoft.com/office/officeart/2005/8/layout/process1"/>
    <dgm:cxn modelId="{3628F0BB-8513-4317-82F3-E0A17BB9921A}" type="presOf" srcId="{4A839CBD-5DB5-4B60-AF7D-11F5A8858982}" destId="{DA86FBE7-7C32-44AC-8540-068C56F8D255}" srcOrd="0" destOrd="0" presId="urn:microsoft.com/office/officeart/2005/8/layout/process1"/>
    <dgm:cxn modelId="{B490A7D2-5DF1-4210-981F-CCBF29AE9B35}" srcId="{4DCAEBE7-B6F7-410B-833F-824769B0E474}" destId="{3B3E3070-0A7E-4470-B89E-818EF875284B}" srcOrd="2" destOrd="0" parTransId="{B71BDE76-BB22-43CA-9297-67685CE17D7D}" sibTransId="{7D3829BD-B9F7-4F45-8F66-BD59554B716F}"/>
    <dgm:cxn modelId="{82489FE1-D845-4F1B-9B9E-1D07CA0912D7}" srcId="{4DCAEBE7-B6F7-410B-833F-824769B0E474}" destId="{A854639F-194C-4E65-B3DD-E612E232D073}" srcOrd="4" destOrd="0" parTransId="{A72B53FF-6FF6-4B49-A586-C4FFFC5DAA30}" sibTransId="{3EA9D4E5-5701-4913-9E48-7C4BE10E76CE}"/>
    <dgm:cxn modelId="{6E1C51E3-A13B-4E21-B466-89AF596B4558}" type="presOf" srcId="{09D70F02-9ADC-44F3-AAEE-35E3127AB9DF}" destId="{260E845A-7C5D-4C66-A650-1B3539B7E0A1}" srcOrd="0" destOrd="0" presId="urn:microsoft.com/office/officeart/2005/8/layout/process1"/>
    <dgm:cxn modelId="{58C726E9-F565-4EDA-A378-846D305C1FC9}" type="presOf" srcId="{8313B14C-86ED-4069-935B-42338C7C0827}" destId="{0510C9D1-3E6D-48E7-A044-3317343942DE}" srcOrd="0" destOrd="0" presId="urn:microsoft.com/office/officeart/2005/8/layout/process1"/>
    <dgm:cxn modelId="{CFE3B2F3-9170-46E8-AD24-6584983DE709}" srcId="{4DCAEBE7-B6F7-410B-833F-824769B0E474}" destId="{09D70F02-9ADC-44F3-AAEE-35E3127AB9DF}" srcOrd="3" destOrd="0" parTransId="{BF0480A1-D9D0-4365-BCE7-0C069CF547E7}" sibTransId="{DB874F14-7806-48DC-9EE4-3C016D6272F4}"/>
    <dgm:cxn modelId="{C29F887A-4D22-448C-8F11-387883E21203}" type="presParOf" srcId="{E6B11729-7498-4432-ABE6-ED3D9F648A17}" destId="{0510C9D1-3E6D-48E7-A044-3317343942DE}" srcOrd="0" destOrd="0" presId="urn:microsoft.com/office/officeart/2005/8/layout/process1"/>
    <dgm:cxn modelId="{03FD9FE3-9653-4127-88B3-D6D406B388B9}" type="presParOf" srcId="{E6B11729-7498-4432-ABE6-ED3D9F648A17}" destId="{092EFF00-C508-4335-B3E8-647374DA8831}" srcOrd="1" destOrd="0" presId="urn:microsoft.com/office/officeart/2005/8/layout/process1"/>
    <dgm:cxn modelId="{127B4AF4-085C-4614-B856-0F2D3236FA27}" type="presParOf" srcId="{092EFF00-C508-4335-B3E8-647374DA8831}" destId="{61C22ADE-2CBB-4B24-9E83-066620B4914D}" srcOrd="0" destOrd="0" presId="urn:microsoft.com/office/officeart/2005/8/layout/process1"/>
    <dgm:cxn modelId="{CA92A5A7-FE57-4F85-A957-35FE35C8CC85}" type="presParOf" srcId="{E6B11729-7498-4432-ABE6-ED3D9F648A17}" destId="{80E8F211-936A-40DD-B37E-5A7B4F9A7DDF}" srcOrd="2" destOrd="0" presId="urn:microsoft.com/office/officeart/2005/8/layout/process1"/>
    <dgm:cxn modelId="{EFE58284-121F-4B06-90F9-A4671450D897}" type="presParOf" srcId="{E6B11729-7498-4432-ABE6-ED3D9F648A17}" destId="{5556AEFD-9423-4514-9207-1749F47F8035}" srcOrd="3" destOrd="0" presId="urn:microsoft.com/office/officeart/2005/8/layout/process1"/>
    <dgm:cxn modelId="{3DF26037-F664-4134-81EA-B2FFFBA57E37}" type="presParOf" srcId="{5556AEFD-9423-4514-9207-1749F47F8035}" destId="{906D33E0-A2CF-415E-8BCD-7C7F426B9E69}" srcOrd="0" destOrd="0" presId="urn:microsoft.com/office/officeart/2005/8/layout/process1"/>
    <dgm:cxn modelId="{BED60007-F385-4530-83A6-719C80F84D3F}" type="presParOf" srcId="{E6B11729-7498-4432-ABE6-ED3D9F648A17}" destId="{AAAB7B3F-C390-4DA7-B97F-3991BD51185D}" srcOrd="4" destOrd="0" presId="urn:microsoft.com/office/officeart/2005/8/layout/process1"/>
    <dgm:cxn modelId="{C8B230E6-68AF-4CBD-899F-E43192CA793C}" type="presParOf" srcId="{E6B11729-7498-4432-ABE6-ED3D9F648A17}" destId="{3C2E80EC-21B5-400F-B88C-34C1ACC8BED0}" srcOrd="5" destOrd="0" presId="urn:microsoft.com/office/officeart/2005/8/layout/process1"/>
    <dgm:cxn modelId="{513DEE44-548D-42D8-949F-0488DE1726D6}" type="presParOf" srcId="{3C2E80EC-21B5-400F-B88C-34C1ACC8BED0}" destId="{A0234AA5-12CF-4C46-8CB1-81B54FF1241D}" srcOrd="0" destOrd="0" presId="urn:microsoft.com/office/officeart/2005/8/layout/process1"/>
    <dgm:cxn modelId="{6775A964-F9CB-42AF-8713-A16A001CFDF2}" type="presParOf" srcId="{E6B11729-7498-4432-ABE6-ED3D9F648A17}" destId="{260E845A-7C5D-4C66-A650-1B3539B7E0A1}" srcOrd="6" destOrd="0" presId="urn:microsoft.com/office/officeart/2005/8/layout/process1"/>
    <dgm:cxn modelId="{0F2DD348-8F64-4A47-9CE6-490BDDEF3DC4}" type="presParOf" srcId="{E6B11729-7498-4432-ABE6-ED3D9F648A17}" destId="{11C5D161-4279-4851-B8E4-3D43B43B2110}" srcOrd="7" destOrd="0" presId="urn:microsoft.com/office/officeart/2005/8/layout/process1"/>
    <dgm:cxn modelId="{910C5735-03AA-4403-8AFD-C8839E070157}" type="presParOf" srcId="{11C5D161-4279-4851-B8E4-3D43B43B2110}" destId="{34DC9F44-3A89-4A59-BCAB-01CF3E97B030}" srcOrd="0" destOrd="0" presId="urn:microsoft.com/office/officeart/2005/8/layout/process1"/>
    <dgm:cxn modelId="{389C087B-899E-42B6-838F-EC01C7EE486A}" type="presParOf" srcId="{E6B11729-7498-4432-ABE6-ED3D9F648A17}" destId="{51E082B5-9785-4CDB-8C20-C421F8C09823}" srcOrd="8" destOrd="0" presId="urn:microsoft.com/office/officeart/2005/8/layout/process1"/>
    <dgm:cxn modelId="{A89B1A8B-690B-45DE-BA9B-9A9462AE3F7F}" type="presParOf" srcId="{E6B11729-7498-4432-ABE6-ED3D9F648A17}" destId="{D378C305-B369-4F84-8D71-2AEAFDA336CB}" srcOrd="9" destOrd="0" presId="urn:microsoft.com/office/officeart/2005/8/layout/process1"/>
    <dgm:cxn modelId="{02764FAC-0405-4A36-BBF7-9A36FA7F6F6B}" type="presParOf" srcId="{D378C305-B369-4F84-8D71-2AEAFDA336CB}" destId="{EAFFF4E1-C783-480B-8244-B3FE70EEDA7C}" srcOrd="0" destOrd="0" presId="urn:microsoft.com/office/officeart/2005/8/layout/process1"/>
    <dgm:cxn modelId="{A49C3D96-044F-4962-8BA8-9096CABABEBA}" type="presParOf" srcId="{E6B11729-7498-4432-ABE6-ED3D9F648A17}" destId="{DA86FBE7-7C32-44AC-8540-068C56F8D255}" srcOrd="10"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10C9D1-3E6D-48E7-A044-3317343942DE}">
      <dsp:nvSpPr>
        <dsp:cNvPr id="0" name=""/>
        <dsp:cNvSpPr/>
      </dsp:nvSpPr>
      <dsp:spPr>
        <a:xfrm>
          <a:off x="0" y="1191766"/>
          <a:ext cx="1122675" cy="673605"/>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dirty="0"/>
            <a:t>Patient Dataset</a:t>
          </a:r>
        </a:p>
      </dsp:txBody>
      <dsp:txXfrm>
        <a:off x="19729" y="1211495"/>
        <a:ext cx="1083217" cy="634147"/>
      </dsp:txXfrm>
    </dsp:sp>
    <dsp:sp modelId="{092EFF00-C508-4335-B3E8-647374DA8831}">
      <dsp:nvSpPr>
        <dsp:cNvPr id="0" name=""/>
        <dsp:cNvSpPr/>
      </dsp:nvSpPr>
      <dsp:spPr>
        <a:xfrm>
          <a:off x="1234943" y="1389357"/>
          <a:ext cx="238007" cy="278423"/>
        </a:xfrm>
        <a:prstGeom prst="righ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a:off x="1234943" y="1445042"/>
        <a:ext cx="166605" cy="167053"/>
      </dsp:txXfrm>
    </dsp:sp>
    <dsp:sp modelId="{80E8F211-936A-40DD-B37E-5A7B4F9A7DDF}">
      <dsp:nvSpPr>
        <dsp:cNvPr id="0" name=""/>
        <dsp:cNvSpPr/>
      </dsp:nvSpPr>
      <dsp:spPr>
        <a:xfrm>
          <a:off x="1571745" y="1191766"/>
          <a:ext cx="1122675" cy="673605"/>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dirty="0"/>
            <a:t>Data Preprocessing</a:t>
          </a:r>
        </a:p>
      </dsp:txBody>
      <dsp:txXfrm>
        <a:off x="1591474" y="1211495"/>
        <a:ext cx="1083217" cy="634147"/>
      </dsp:txXfrm>
    </dsp:sp>
    <dsp:sp modelId="{5556AEFD-9423-4514-9207-1749F47F8035}">
      <dsp:nvSpPr>
        <dsp:cNvPr id="0" name=""/>
        <dsp:cNvSpPr/>
      </dsp:nvSpPr>
      <dsp:spPr>
        <a:xfrm>
          <a:off x="2806688" y="1389357"/>
          <a:ext cx="238007" cy="278423"/>
        </a:xfrm>
        <a:prstGeom prst="righ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a:off x="2806688" y="1445042"/>
        <a:ext cx="166605" cy="167053"/>
      </dsp:txXfrm>
    </dsp:sp>
    <dsp:sp modelId="{AAAB7B3F-C390-4DA7-B97F-3991BD51185D}">
      <dsp:nvSpPr>
        <dsp:cNvPr id="0" name=""/>
        <dsp:cNvSpPr/>
      </dsp:nvSpPr>
      <dsp:spPr>
        <a:xfrm>
          <a:off x="3143491" y="1191766"/>
          <a:ext cx="1122675" cy="673605"/>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a:t>Train–Test Split</a:t>
          </a:r>
          <a:endParaRPr lang="en-IN" sz="1200" kern="1200" dirty="0"/>
        </a:p>
      </dsp:txBody>
      <dsp:txXfrm>
        <a:off x="3163220" y="1211495"/>
        <a:ext cx="1083217" cy="634147"/>
      </dsp:txXfrm>
    </dsp:sp>
    <dsp:sp modelId="{3C2E80EC-21B5-400F-B88C-34C1ACC8BED0}">
      <dsp:nvSpPr>
        <dsp:cNvPr id="0" name=""/>
        <dsp:cNvSpPr/>
      </dsp:nvSpPr>
      <dsp:spPr>
        <a:xfrm>
          <a:off x="4378434" y="1389357"/>
          <a:ext cx="238007" cy="278423"/>
        </a:xfrm>
        <a:prstGeom prst="righ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a:off x="4378434" y="1445042"/>
        <a:ext cx="166605" cy="167053"/>
      </dsp:txXfrm>
    </dsp:sp>
    <dsp:sp modelId="{260E845A-7C5D-4C66-A650-1B3539B7E0A1}">
      <dsp:nvSpPr>
        <dsp:cNvPr id="0" name=""/>
        <dsp:cNvSpPr/>
      </dsp:nvSpPr>
      <dsp:spPr>
        <a:xfrm>
          <a:off x="4715237" y="1191766"/>
          <a:ext cx="1122675" cy="673605"/>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a:t>Classification Model Training</a:t>
          </a:r>
          <a:endParaRPr lang="en-IN" sz="1200" kern="1200" dirty="0"/>
        </a:p>
      </dsp:txBody>
      <dsp:txXfrm>
        <a:off x="4734966" y="1211495"/>
        <a:ext cx="1083217" cy="634147"/>
      </dsp:txXfrm>
    </dsp:sp>
    <dsp:sp modelId="{11C5D161-4279-4851-B8E4-3D43B43B2110}">
      <dsp:nvSpPr>
        <dsp:cNvPr id="0" name=""/>
        <dsp:cNvSpPr/>
      </dsp:nvSpPr>
      <dsp:spPr>
        <a:xfrm>
          <a:off x="5950180" y="1389357"/>
          <a:ext cx="238007" cy="278423"/>
        </a:xfrm>
        <a:prstGeom prst="righ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a:off x="5950180" y="1445042"/>
        <a:ext cx="166605" cy="167053"/>
      </dsp:txXfrm>
    </dsp:sp>
    <dsp:sp modelId="{51E082B5-9785-4CDB-8C20-C421F8C09823}">
      <dsp:nvSpPr>
        <dsp:cNvPr id="0" name=""/>
        <dsp:cNvSpPr/>
      </dsp:nvSpPr>
      <dsp:spPr>
        <a:xfrm>
          <a:off x="6286982" y="1191766"/>
          <a:ext cx="1122675" cy="673605"/>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a:t>Model Evaluation</a:t>
          </a:r>
          <a:endParaRPr lang="en-IN" sz="1200" kern="1200" dirty="0"/>
        </a:p>
      </dsp:txBody>
      <dsp:txXfrm>
        <a:off x="6306711" y="1211495"/>
        <a:ext cx="1083217" cy="634147"/>
      </dsp:txXfrm>
    </dsp:sp>
    <dsp:sp modelId="{D378C305-B369-4F84-8D71-2AEAFDA336CB}">
      <dsp:nvSpPr>
        <dsp:cNvPr id="0" name=""/>
        <dsp:cNvSpPr/>
      </dsp:nvSpPr>
      <dsp:spPr>
        <a:xfrm>
          <a:off x="7521925" y="1389357"/>
          <a:ext cx="238007" cy="278423"/>
        </a:xfrm>
        <a:prstGeom prst="righ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a:off x="7521925" y="1445042"/>
        <a:ext cx="166605" cy="167053"/>
      </dsp:txXfrm>
    </dsp:sp>
    <dsp:sp modelId="{DA86FBE7-7C32-44AC-8540-068C56F8D255}">
      <dsp:nvSpPr>
        <dsp:cNvPr id="0" name=""/>
        <dsp:cNvSpPr/>
      </dsp:nvSpPr>
      <dsp:spPr>
        <a:xfrm>
          <a:off x="7858728" y="1191766"/>
          <a:ext cx="1122675" cy="673605"/>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a:t>Final Model Selection</a:t>
          </a:r>
          <a:endParaRPr lang="en-IN" sz="1200" kern="1200" dirty="0"/>
        </a:p>
      </dsp:txBody>
      <dsp:txXfrm>
        <a:off x="7878457" y="1211495"/>
        <a:ext cx="1083217" cy="634147"/>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8cdb4fd196_2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g38cdb4fd196_2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B13F416F-AF0F-AC4A-37E1-0A088EFBE3B5}"/>
            </a:ext>
          </a:extLst>
        </p:cNvPr>
        <p:cNvGrpSpPr/>
        <p:nvPr/>
      </p:nvGrpSpPr>
      <p:grpSpPr>
        <a:xfrm>
          <a:off x="0" y="0"/>
          <a:ext cx="0" cy="0"/>
          <a:chOff x="0" y="0"/>
          <a:chExt cx="0" cy="0"/>
        </a:xfrm>
      </p:grpSpPr>
      <p:sp>
        <p:nvSpPr>
          <p:cNvPr id="142" name="Google Shape;142;g38cdb4fd196_2_27:notes">
            <a:extLst>
              <a:ext uri="{FF2B5EF4-FFF2-40B4-BE49-F238E27FC236}">
                <a16:creationId xmlns:a16="http://schemas.microsoft.com/office/drawing/2014/main" id="{FACB8AA5-A785-AB43-735B-7FFB903CF1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g38cdb4fd196_2_27:notes">
            <a:extLst>
              <a:ext uri="{FF2B5EF4-FFF2-40B4-BE49-F238E27FC236}">
                <a16:creationId xmlns:a16="http://schemas.microsoft.com/office/drawing/2014/main" id="{B7F4FF39-1D66-ED13-8253-42BC0D5FCA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21127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4"/>
          <p:cNvSpPr>
            <a:spLocks noGrp="1"/>
          </p:cNvSpPr>
          <p:nvPr>
            <p:ph type="pic" idx="2"/>
          </p:nvPr>
        </p:nvSpPr>
        <p:spPr>
          <a:xfrm>
            <a:off x="5183188" y="987425"/>
            <a:ext cx="6172200" cy="4873625"/>
          </a:xfrm>
          <a:prstGeom prst="rect">
            <a:avLst/>
          </a:prstGeom>
          <a:noFill/>
          <a:ln>
            <a:noFill/>
          </a:ln>
        </p:spPr>
      </p:sp>
      <p:sp>
        <p:nvSpPr>
          <p:cNvPr id="64" name="Google Shape;64;p2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2870212"/>
            <a:ext cx="9144000" cy="1654500"/>
          </a:xfrm>
          <a:prstGeom prst="rect">
            <a:avLst/>
          </a:prstGeom>
          <a:noFill/>
          <a:ln>
            <a:noFill/>
          </a:ln>
        </p:spPr>
        <p:txBody>
          <a:bodyPr spcFirstLastPara="1" wrap="square" lIns="91425" tIns="45700" rIns="91425" bIns="45700" anchor="b" anchorCtr="0">
            <a:noAutofit/>
          </a:bodyPr>
          <a:lstStyle/>
          <a:p>
            <a:pPr lvl="0">
              <a:lnSpc>
                <a:spcPct val="200000"/>
              </a:lnSpc>
              <a:buClr>
                <a:srgbClr val="0C3571"/>
              </a:buClr>
              <a:buSzPts val="2800"/>
            </a:pPr>
            <a:br>
              <a:rPr lang="en-IN" sz="2800" b="1" dirty="0">
                <a:solidFill>
                  <a:srgbClr val="0C3571"/>
                </a:solidFill>
                <a:latin typeface="Anta"/>
                <a:ea typeface="Anta"/>
                <a:cs typeface="Anta"/>
                <a:sym typeface="Anta"/>
              </a:rPr>
            </a:br>
            <a:br>
              <a:rPr lang="en-IN" sz="2800" b="1" dirty="0">
                <a:solidFill>
                  <a:srgbClr val="0C3571"/>
                </a:solidFill>
                <a:latin typeface="Anta"/>
                <a:ea typeface="Anta"/>
                <a:cs typeface="Anta"/>
                <a:sym typeface="Anta"/>
              </a:rPr>
            </a:br>
            <a:br>
              <a:rPr lang="en-IN" sz="2800" b="1" dirty="0">
                <a:solidFill>
                  <a:srgbClr val="0C3571"/>
                </a:solidFill>
                <a:latin typeface="Anta"/>
                <a:ea typeface="Anta"/>
                <a:cs typeface="Anta"/>
                <a:sym typeface="Anta"/>
              </a:rPr>
            </a:br>
            <a:br>
              <a:rPr lang="en-IN" sz="2800" b="1" dirty="0">
                <a:solidFill>
                  <a:srgbClr val="0C3571"/>
                </a:solidFill>
                <a:latin typeface="Anta"/>
                <a:ea typeface="Anta"/>
                <a:cs typeface="Anta"/>
                <a:sym typeface="Anta"/>
              </a:rPr>
            </a:br>
            <a:br>
              <a:rPr lang="en-IN" sz="2800" b="1" dirty="0">
                <a:solidFill>
                  <a:srgbClr val="0C3571"/>
                </a:solidFill>
                <a:latin typeface="Anta"/>
                <a:ea typeface="Anta"/>
                <a:cs typeface="Anta"/>
                <a:sym typeface="Anta"/>
              </a:rPr>
            </a:br>
            <a:r>
              <a:rPr lang="en-IN" sz="4400" b="1" dirty="0">
                <a:solidFill>
                  <a:srgbClr val="0C3571"/>
                </a:solidFill>
                <a:latin typeface="Times New Roman"/>
                <a:ea typeface="Times New Roman"/>
                <a:cs typeface="Times New Roman"/>
                <a:sym typeface="Times New Roman"/>
              </a:rPr>
              <a:t>Capstone Project 2 </a:t>
            </a:r>
            <a:br>
              <a:rPr lang="en-IN" sz="4400" b="1" dirty="0">
                <a:solidFill>
                  <a:srgbClr val="0C3571"/>
                </a:solidFill>
                <a:latin typeface="Times New Roman"/>
                <a:ea typeface="Times New Roman"/>
                <a:cs typeface="Times New Roman"/>
                <a:sym typeface="Times New Roman"/>
              </a:rPr>
            </a:br>
            <a:r>
              <a:rPr lang="en-US" sz="2400" b="1" dirty="0">
                <a:solidFill>
                  <a:srgbClr val="0C3571"/>
                </a:solidFill>
                <a:latin typeface="Times New Roman"/>
                <a:ea typeface="Times New Roman"/>
                <a:cs typeface="Times New Roman"/>
                <a:sym typeface="Times New Roman"/>
              </a:rPr>
              <a:t>HEART DISEASE DETECTION USING CLASSIFICATION ALGORITHMS </a:t>
            </a:r>
            <a:br>
              <a:rPr lang="en-US" sz="2400" b="1" dirty="0">
                <a:solidFill>
                  <a:srgbClr val="0C3571"/>
                </a:solidFill>
                <a:latin typeface="Times New Roman"/>
                <a:ea typeface="Times New Roman"/>
                <a:cs typeface="Times New Roman"/>
                <a:sym typeface="Times New Roman"/>
              </a:rPr>
            </a:br>
            <a:endParaRPr sz="2300" b="1" dirty="0">
              <a:solidFill>
                <a:srgbClr val="0C3571"/>
              </a:solidFill>
              <a:latin typeface="Arial"/>
              <a:ea typeface="Arial"/>
              <a:cs typeface="Arial"/>
              <a:sym typeface="Arial"/>
            </a:endParaRPr>
          </a:p>
          <a:p>
            <a:pPr marL="0" lvl="0" indent="0" algn="ctr" rtl="0">
              <a:lnSpc>
                <a:spcPct val="200000"/>
              </a:lnSpc>
              <a:spcBef>
                <a:spcPts val="0"/>
              </a:spcBef>
              <a:spcAft>
                <a:spcPts val="0"/>
              </a:spcAft>
              <a:buClr>
                <a:srgbClr val="0C3571"/>
              </a:buClr>
              <a:buSzPts val="2800"/>
              <a:buFont typeface="Anta"/>
              <a:buNone/>
            </a:pPr>
            <a:br>
              <a:rPr lang="en-IN" sz="1400" b="1" dirty="0">
                <a:solidFill>
                  <a:srgbClr val="2F5496"/>
                </a:solidFill>
                <a:latin typeface="Times New Roman"/>
                <a:ea typeface="Times New Roman"/>
                <a:cs typeface="Times New Roman"/>
                <a:sym typeface="Times New Roman"/>
              </a:rPr>
            </a:br>
            <a:endParaRPr sz="1400" dirty="0">
              <a:solidFill>
                <a:srgbClr val="2F5496"/>
              </a:solidFill>
              <a:latin typeface="Times New Roman"/>
              <a:ea typeface="Times New Roman"/>
              <a:cs typeface="Times New Roman"/>
              <a:sym typeface="Times New Roman"/>
            </a:endParaRPr>
          </a:p>
        </p:txBody>
      </p:sp>
      <p:sp>
        <p:nvSpPr>
          <p:cNvPr id="85" name="Google Shape;85;p1"/>
          <p:cNvSpPr txBox="1"/>
          <p:nvPr/>
        </p:nvSpPr>
        <p:spPr>
          <a:xfrm>
            <a:off x="7522028" y="4225385"/>
            <a:ext cx="4125600" cy="218517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800" b="0" i="0" u="none" strike="noStrike" cap="none" dirty="0">
                <a:solidFill>
                  <a:srgbClr val="2F5496"/>
                </a:solidFill>
                <a:latin typeface="Times New Roman"/>
                <a:ea typeface="Times New Roman"/>
                <a:cs typeface="Times New Roman"/>
                <a:sym typeface="Times New Roman"/>
              </a:rPr>
              <a:t>Team Members</a:t>
            </a:r>
            <a:endParaRPr dirty="0"/>
          </a:p>
          <a:p>
            <a:r>
              <a:rPr lang="en-IN" sz="1800" dirty="0">
                <a:solidFill>
                  <a:srgbClr val="2F5496"/>
                </a:solidFill>
                <a:latin typeface="Times New Roman"/>
                <a:ea typeface="Times New Roman"/>
                <a:cs typeface="Times New Roman"/>
                <a:sym typeface="Times New Roman"/>
              </a:rPr>
              <a:t>T170800521: Vedant Patil</a:t>
            </a:r>
            <a:endParaRPr dirty="0"/>
          </a:p>
          <a:p>
            <a:pPr marL="0" marR="0" lvl="0" indent="0" algn="l" rtl="0">
              <a:spcBef>
                <a:spcPts val="0"/>
              </a:spcBef>
              <a:spcAft>
                <a:spcPts val="0"/>
              </a:spcAft>
              <a:buNone/>
            </a:pPr>
            <a:r>
              <a:rPr lang="en-IN" sz="1800" dirty="0">
                <a:solidFill>
                  <a:srgbClr val="2F5496"/>
                </a:solidFill>
                <a:latin typeface="Times New Roman"/>
                <a:ea typeface="Times New Roman"/>
                <a:cs typeface="Times New Roman"/>
                <a:sym typeface="Times New Roman"/>
              </a:rPr>
              <a:t>T170800540: Piyush Patil </a:t>
            </a:r>
            <a:endParaRPr sz="1800" dirty="0">
              <a:solidFill>
                <a:srgbClr val="2F5496"/>
              </a:solidFill>
              <a:latin typeface="Times New Roman"/>
              <a:ea typeface="Times New Roman"/>
              <a:cs typeface="Times New Roman"/>
              <a:sym typeface="Times New Roman"/>
            </a:endParaRPr>
          </a:p>
          <a:p>
            <a:pPr marL="0" marR="0" lvl="0" indent="0" algn="l" rtl="0">
              <a:spcBef>
                <a:spcPts val="0"/>
              </a:spcBef>
              <a:spcAft>
                <a:spcPts val="0"/>
              </a:spcAft>
              <a:buNone/>
            </a:pPr>
            <a:r>
              <a:rPr lang="en-IN" sz="1800" dirty="0">
                <a:solidFill>
                  <a:srgbClr val="2F5496"/>
                </a:solidFill>
                <a:latin typeface="Times New Roman"/>
                <a:ea typeface="Times New Roman"/>
                <a:cs typeface="Times New Roman"/>
                <a:sym typeface="Times New Roman"/>
              </a:rPr>
              <a:t>T170800517: Sankalp Patil</a:t>
            </a:r>
            <a:endParaRPr sz="1800" dirty="0">
              <a:solidFill>
                <a:srgbClr val="2F5496"/>
              </a:solidFill>
              <a:latin typeface="Times New Roman"/>
              <a:ea typeface="Times New Roman"/>
              <a:cs typeface="Times New Roman"/>
              <a:sym typeface="Times New Roman"/>
            </a:endParaRPr>
          </a:p>
          <a:p>
            <a:pPr marL="0" marR="0" lvl="0" indent="0" algn="l" rtl="0">
              <a:spcBef>
                <a:spcPts val="0"/>
              </a:spcBef>
              <a:spcAft>
                <a:spcPts val="0"/>
              </a:spcAft>
              <a:buNone/>
            </a:pPr>
            <a:r>
              <a:rPr lang="en-IN" sz="1800" dirty="0">
                <a:solidFill>
                  <a:srgbClr val="2F5496"/>
                </a:solidFill>
                <a:latin typeface="Times New Roman"/>
                <a:ea typeface="Times New Roman"/>
                <a:cs typeface="Times New Roman"/>
                <a:sym typeface="Times New Roman"/>
              </a:rPr>
              <a:t>T170800509: Ashwin Poojary </a:t>
            </a:r>
            <a:endParaRPr dirty="0"/>
          </a:p>
          <a:p>
            <a:pPr marL="0" marR="0" lvl="0" indent="0" algn="l" rtl="0">
              <a:spcBef>
                <a:spcPts val="0"/>
              </a:spcBef>
              <a:spcAft>
                <a:spcPts val="0"/>
              </a:spcAft>
              <a:buNone/>
            </a:pPr>
            <a:r>
              <a:rPr lang="en-IN" sz="1800" dirty="0">
                <a:solidFill>
                  <a:srgbClr val="2F5496"/>
                </a:solidFill>
                <a:latin typeface="Times New Roman"/>
                <a:ea typeface="Times New Roman"/>
                <a:cs typeface="Times New Roman"/>
                <a:sym typeface="Times New Roman"/>
              </a:rPr>
              <a:t>T170800502: Nilesh </a:t>
            </a:r>
            <a:r>
              <a:rPr lang="en-IN" sz="1800" dirty="0" err="1">
                <a:solidFill>
                  <a:srgbClr val="2F5496"/>
                </a:solidFill>
                <a:latin typeface="Times New Roman"/>
                <a:ea typeface="Times New Roman"/>
                <a:cs typeface="Times New Roman"/>
                <a:sym typeface="Times New Roman"/>
              </a:rPr>
              <a:t>Rupnawar</a:t>
            </a:r>
            <a:endParaRPr sz="1800" dirty="0">
              <a:solidFill>
                <a:srgbClr val="2F5496"/>
              </a:solidFill>
              <a:latin typeface="Times New Roman"/>
              <a:ea typeface="Times New Roman"/>
              <a:cs typeface="Times New Roman"/>
              <a:sym typeface="Times New Roman"/>
            </a:endParaRPr>
          </a:p>
          <a:p>
            <a:pPr marL="0" marR="0" lvl="0" indent="0" algn="l" rtl="0">
              <a:spcBef>
                <a:spcPts val="0"/>
              </a:spcBef>
              <a:spcAft>
                <a:spcPts val="0"/>
              </a:spcAft>
              <a:buNone/>
            </a:pPr>
            <a:endParaRPr sz="1800" dirty="0">
              <a:solidFill>
                <a:srgbClr val="2F5496"/>
              </a:solidFill>
              <a:latin typeface="Times New Roman"/>
              <a:ea typeface="Times New Roman"/>
              <a:cs typeface="Times New Roman"/>
              <a:sym typeface="Times New Roman"/>
            </a:endParaRPr>
          </a:p>
        </p:txBody>
      </p:sp>
      <p:pic>
        <p:nvPicPr>
          <p:cNvPr id="86" name="Google Shape;86;p1"/>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87" name="Google Shape;87;p1"/>
          <p:cNvSpPr txBox="1"/>
          <p:nvPr/>
        </p:nvSpPr>
        <p:spPr>
          <a:xfrm>
            <a:off x="0" y="0"/>
            <a:ext cx="30000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800">
              <a:solidFill>
                <a:srgbClr val="2F5496"/>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
          <p:cNvSpPr txBox="1"/>
          <p:nvPr/>
        </p:nvSpPr>
        <p:spPr>
          <a:xfrm>
            <a:off x="925286" y="566057"/>
            <a:ext cx="10417500" cy="6003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4000" dirty="0">
                <a:solidFill>
                  <a:schemeClr val="dk1"/>
                </a:solidFill>
                <a:latin typeface="Times New Roman"/>
                <a:ea typeface="Times New Roman"/>
                <a:cs typeface="Times New Roman"/>
                <a:sym typeface="Times New Roman"/>
              </a:rPr>
              <a:t>Table of Contents</a:t>
            </a:r>
            <a:endParaRPr dirty="0"/>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Problem Statement</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Overview of the Project</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Data generation &amp; Loading</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Data Exploration &amp; Understanding</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Exploratory Data Analysis</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Data Preprocessing &amp; Feature Engineering</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Model Building &amp; Training</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Model Evaluation &amp; Performance Analysis</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Stream API Deployment (</a:t>
            </a:r>
            <a:r>
              <a:rPr lang="en-IN" sz="2800" dirty="0" err="1">
                <a:solidFill>
                  <a:srgbClr val="2F5496"/>
                </a:solidFill>
                <a:latin typeface="Times New Roman"/>
                <a:ea typeface="Times New Roman"/>
                <a:cs typeface="Times New Roman"/>
                <a:sym typeface="Times New Roman"/>
              </a:rPr>
              <a:t>Streamlit</a:t>
            </a:r>
            <a:r>
              <a:rPr lang="en-IN" sz="2800" dirty="0">
                <a:solidFill>
                  <a:srgbClr val="2F5496"/>
                </a:solidFill>
                <a:latin typeface="Times New Roman"/>
                <a:ea typeface="Times New Roman"/>
                <a:cs typeface="Times New Roman"/>
                <a:sym typeface="Times New Roman"/>
              </a:rPr>
              <a:t>)</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Docker Deployment</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Conclusion</a:t>
            </a:r>
            <a:endParaRPr dirty="0"/>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pic>
        <p:nvPicPr>
          <p:cNvPr id="93" name="Google Shape;93;p2"/>
          <p:cNvPicPr preferRelativeResize="0"/>
          <p:nvPr/>
        </p:nvPicPr>
        <p:blipFill rotWithShape="1">
          <a:blip r:embed="rId3">
            <a:alphaModFix/>
          </a:blip>
          <a:srcRect/>
          <a:stretch/>
        </p:blipFill>
        <p:spPr>
          <a:xfrm>
            <a:off x="10232571" y="304800"/>
            <a:ext cx="1578429" cy="105591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p:nvPr/>
        </p:nvSpPr>
        <p:spPr>
          <a:xfrm>
            <a:off x="925275" y="566021"/>
            <a:ext cx="10417500" cy="61124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2800" b="1" dirty="0">
                <a:solidFill>
                  <a:srgbClr val="2F5496"/>
                </a:solidFill>
                <a:latin typeface="Times New Roman"/>
                <a:ea typeface="Times New Roman"/>
                <a:cs typeface="Times New Roman"/>
                <a:sym typeface="Times New Roman"/>
              </a:rPr>
              <a:t>Problem Statement</a:t>
            </a:r>
            <a:endParaRPr sz="2800" b="1" dirty="0">
              <a:solidFill>
                <a:srgbClr val="2F5496"/>
              </a:solidFill>
              <a:latin typeface="Times New Roman"/>
              <a:ea typeface="Times New Roman"/>
              <a:cs typeface="Times New Roman"/>
              <a:sym typeface="Times New Roman"/>
            </a:endParaRPr>
          </a:p>
          <a:p>
            <a:pPr marL="0" marR="0" lvl="0" indent="0" algn="l" rtl="0">
              <a:spcBef>
                <a:spcPts val="0"/>
              </a:spcBef>
              <a:spcAft>
                <a:spcPts val="0"/>
              </a:spcAft>
              <a:buNone/>
            </a:pPr>
            <a:endParaRPr sz="2800" b="1" dirty="0">
              <a:solidFill>
                <a:srgbClr val="2F5496"/>
              </a:solidFill>
              <a:latin typeface="Times New Roman"/>
              <a:ea typeface="Times New Roman"/>
              <a:cs typeface="Times New Roman"/>
              <a:sym typeface="Times New Roman"/>
            </a:endParaRPr>
          </a:p>
          <a:p>
            <a:pPr lvl="0"/>
            <a:r>
              <a:rPr lang="en-IN" sz="2400" dirty="0"/>
              <a:t>Heart disease is one of the leading causes of death worldwide. Early detection is important for reducing complications and improving patient outcomes. Traditional diagnosis requires medical examinations, clinical tests, and expert interpretation. Machine learning can </a:t>
            </a:r>
            <a:r>
              <a:rPr lang="en-IN" sz="2400" dirty="0" err="1"/>
              <a:t>analyze</a:t>
            </a:r>
            <a:r>
              <a:rPr lang="en-IN" sz="2400" dirty="0"/>
              <a:t> patient health information to identify patterns associated with heart disease. This project aims to develop a classification-based system to predict the presence or absence of heart disease.</a:t>
            </a:r>
          </a:p>
          <a:p>
            <a:pPr marL="0" lvl="0" indent="0" algn="l" rtl="0">
              <a:lnSpc>
                <a:spcPct val="115000"/>
              </a:lnSpc>
              <a:spcBef>
                <a:spcPts val="1200"/>
              </a:spcBef>
              <a:spcAft>
                <a:spcPts val="0"/>
              </a:spcAft>
              <a:buSzPts val="1100"/>
              <a:buNone/>
            </a:pPr>
            <a:endParaRPr sz="2400" dirty="0">
              <a:solidFill>
                <a:srgbClr val="2F5496"/>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2400" dirty="0">
              <a:solidFill>
                <a:srgbClr val="2F5496"/>
              </a:solidFill>
              <a:latin typeface="Times New Roman"/>
              <a:ea typeface="Times New Roman"/>
              <a:cs typeface="Times New Roman"/>
              <a:sym typeface="Times New Roman"/>
            </a:endParaRPr>
          </a:p>
          <a:p>
            <a:pPr marL="0" marR="0" lvl="0" indent="0" algn="l" rtl="0">
              <a:spcBef>
                <a:spcPts val="1200"/>
              </a:spcBef>
              <a:spcAft>
                <a:spcPts val="0"/>
              </a:spcAft>
              <a:buNone/>
            </a:pPr>
            <a:endParaRPr sz="4000" dirty="0">
              <a:solidFill>
                <a:srgbClr val="2F5496"/>
              </a:solidFill>
              <a:latin typeface="Times New Roman"/>
              <a:ea typeface="Times New Roman"/>
              <a:cs typeface="Times New Roman"/>
              <a:sym typeface="Times New Roman"/>
            </a:endParaRPr>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pic>
        <p:nvPicPr>
          <p:cNvPr id="99" name="Google Shape;99;p3"/>
          <p:cNvPicPr preferRelativeResize="0"/>
          <p:nvPr/>
        </p:nvPicPr>
        <p:blipFill rotWithShape="1">
          <a:blip r:embed="rId3">
            <a:alphaModFix/>
          </a:blip>
          <a:srcRect/>
          <a:stretch/>
        </p:blipFill>
        <p:spPr>
          <a:xfrm>
            <a:off x="10232571" y="304800"/>
            <a:ext cx="1578429" cy="105591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p:nvPr/>
        </p:nvSpPr>
        <p:spPr>
          <a:xfrm>
            <a:off x="249475" y="136050"/>
            <a:ext cx="11255400" cy="54476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2800" b="1" dirty="0">
                <a:solidFill>
                  <a:srgbClr val="2F5496"/>
                </a:solidFill>
                <a:latin typeface="Times New Roman"/>
                <a:ea typeface="Times New Roman"/>
                <a:cs typeface="Times New Roman"/>
                <a:sym typeface="Times New Roman"/>
              </a:rPr>
              <a:t>Overview of the Project</a:t>
            </a:r>
            <a:endParaRPr sz="2800" b="1" dirty="0">
              <a:solidFill>
                <a:srgbClr val="2F5496"/>
              </a:solidFill>
              <a:latin typeface="Times New Roman"/>
              <a:ea typeface="Times New Roman"/>
              <a:cs typeface="Times New Roman"/>
              <a:sym typeface="Times New Roman"/>
            </a:endParaRPr>
          </a:p>
          <a:p>
            <a:pPr marL="457200" indent="-368300" algn="just">
              <a:buClr>
                <a:srgbClr val="0C3571"/>
              </a:buClr>
              <a:buSzPts val="2200"/>
              <a:buFont typeface="Times New Roman"/>
              <a:buChar char="●"/>
            </a:pPr>
            <a:endParaRPr lang="en-IN" sz="2000" dirty="0">
              <a:solidFill>
                <a:srgbClr val="0C3571"/>
              </a:solidFill>
              <a:latin typeface="Times New Roman"/>
              <a:cs typeface="Times New Roman"/>
            </a:endParaRPr>
          </a:p>
          <a:p>
            <a:pPr marL="457200" indent="-368300" algn="just">
              <a:buClr>
                <a:srgbClr val="0C3571"/>
              </a:buClr>
              <a:buSzPts val="2200"/>
              <a:buFont typeface="Times New Roman"/>
              <a:buChar char="●"/>
            </a:pPr>
            <a:r>
              <a:rPr lang="en-IN" sz="2000" dirty="0">
                <a:solidFill>
                  <a:srgbClr val="0C3571"/>
                </a:solidFill>
                <a:latin typeface="Times New Roman"/>
                <a:cs typeface="Times New Roman"/>
              </a:rPr>
              <a:t>Develop a supervised machine learning system for heart disease classification.</a:t>
            </a:r>
          </a:p>
          <a:p>
            <a:pPr marL="457200" indent="-368300" algn="just">
              <a:buClr>
                <a:srgbClr val="0C3571"/>
              </a:buClr>
              <a:buSzPts val="2200"/>
              <a:buFont typeface="Times New Roman"/>
              <a:buChar char="●"/>
            </a:pPr>
            <a:endParaRPr lang="en-IN" sz="2000" dirty="0">
              <a:solidFill>
                <a:srgbClr val="0C3571"/>
              </a:solidFill>
              <a:latin typeface="Times New Roman"/>
              <a:cs typeface="Times New Roman"/>
            </a:endParaRPr>
          </a:p>
          <a:p>
            <a:pPr marL="457200" indent="-368300" algn="just">
              <a:buClr>
                <a:srgbClr val="0C3571"/>
              </a:buClr>
              <a:buSzPts val="2200"/>
              <a:buFont typeface="Times New Roman"/>
              <a:buChar char="●"/>
            </a:pPr>
            <a:r>
              <a:rPr lang="en-IN" sz="2000" dirty="0" err="1">
                <a:solidFill>
                  <a:srgbClr val="0C3571"/>
                </a:solidFill>
                <a:latin typeface="Times New Roman"/>
                <a:cs typeface="Times New Roman"/>
              </a:rPr>
              <a:t>Analyze</a:t>
            </a:r>
            <a:r>
              <a:rPr lang="en-IN" sz="2000" dirty="0">
                <a:solidFill>
                  <a:srgbClr val="0C3571"/>
                </a:solidFill>
                <a:latin typeface="Times New Roman"/>
                <a:cs typeface="Times New Roman"/>
              </a:rPr>
              <a:t> patient demographic, clinical, and diagnostic information.</a:t>
            </a:r>
          </a:p>
          <a:p>
            <a:pPr marL="457200" indent="-368300" algn="just">
              <a:buClr>
                <a:srgbClr val="0C3571"/>
              </a:buClr>
              <a:buSzPts val="2200"/>
              <a:buFont typeface="Times New Roman"/>
              <a:buChar char="●"/>
            </a:pPr>
            <a:endParaRPr lang="en-IN" sz="2000" dirty="0">
              <a:solidFill>
                <a:srgbClr val="0C3571"/>
              </a:solidFill>
              <a:latin typeface="Times New Roman"/>
              <a:cs typeface="Times New Roman"/>
            </a:endParaRPr>
          </a:p>
          <a:p>
            <a:pPr marL="457200" indent="-368300" algn="just">
              <a:buClr>
                <a:srgbClr val="0C3571"/>
              </a:buClr>
              <a:buSzPts val="2200"/>
              <a:buFont typeface="Times New Roman"/>
              <a:buChar char="●"/>
            </a:pPr>
            <a:r>
              <a:rPr lang="en-IN" sz="2000" dirty="0">
                <a:solidFill>
                  <a:srgbClr val="0C3571"/>
                </a:solidFill>
                <a:latin typeface="Times New Roman"/>
                <a:cs typeface="Times New Roman"/>
              </a:rPr>
              <a:t>Implement four classification algorithms: Logistic Regression, Decision Tree, Random Forest, and Support Vector Machine.</a:t>
            </a:r>
          </a:p>
          <a:p>
            <a:pPr marL="457200" indent="-368300" algn="just">
              <a:buClr>
                <a:srgbClr val="0C3571"/>
              </a:buClr>
              <a:buSzPts val="2200"/>
              <a:buFont typeface="Times New Roman"/>
              <a:buChar char="●"/>
            </a:pPr>
            <a:endParaRPr lang="en-IN" sz="2000" dirty="0">
              <a:solidFill>
                <a:srgbClr val="0C3571"/>
              </a:solidFill>
              <a:latin typeface="Times New Roman"/>
              <a:cs typeface="Times New Roman"/>
            </a:endParaRPr>
          </a:p>
          <a:p>
            <a:pPr marL="457200" indent="-368300" algn="just">
              <a:buClr>
                <a:srgbClr val="0C3571"/>
              </a:buClr>
              <a:buSzPts val="2200"/>
              <a:buFont typeface="Times New Roman"/>
              <a:buChar char="●"/>
            </a:pPr>
            <a:r>
              <a:rPr lang="en-IN" sz="2000" dirty="0">
                <a:solidFill>
                  <a:srgbClr val="0C3571"/>
                </a:solidFill>
                <a:latin typeface="Times New Roman"/>
                <a:cs typeface="Times New Roman"/>
              </a:rPr>
              <a:t>Compare algorithms using multiple performance metrics.</a:t>
            </a:r>
          </a:p>
          <a:p>
            <a:pPr marL="457200" indent="-368300" algn="just">
              <a:buClr>
                <a:srgbClr val="0C3571"/>
              </a:buClr>
              <a:buSzPts val="2200"/>
              <a:buFont typeface="Times New Roman"/>
              <a:buChar char="●"/>
            </a:pPr>
            <a:endParaRPr lang="en-IN" sz="2000" dirty="0">
              <a:solidFill>
                <a:srgbClr val="0C3571"/>
              </a:solidFill>
              <a:latin typeface="Times New Roman"/>
              <a:cs typeface="Times New Roman"/>
            </a:endParaRPr>
          </a:p>
          <a:p>
            <a:pPr marL="457200" indent="-368300" algn="just">
              <a:buClr>
                <a:srgbClr val="0C3571"/>
              </a:buClr>
              <a:buSzPts val="2200"/>
              <a:buFont typeface="Times New Roman"/>
              <a:buChar char="●"/>
            </a:pPr>
            <a:r>
              <a:rPr lang="en-IN" sz="2000" dirty="0">
                <a:solidFill>
                  <a:srgbClr val="0C3571"/>
                </a:solidFill>
                <a:latin typeface="Times New Roman"/>
                <a:cs typeface="Times New Roman"/>
              </a:rPr>
              <a:t>Deploy the selected model through </a:t>
            </a:r>
            <a:r>
              <a:rPr lang="en-IN" sz="2000" dirty="0" err="1">
                <a:solidFill>
                  <a:srgbClr val="0C3571"/>
                </a:solidFill>
                <a:latin typeface="Times New Roman"/>
                <a:cs typeface="Times New Roman"/>
              </a:rPr>
              <a:t>FastAPI</a:t>
            </a:r>
            <a:r>
              <a:rPr lang="en-IN" sz="2000" dirty="0">
                <a:solidFill>
                  <a:srgbClr val="0C3571"/>
                </a:solidFill>
                <a:latin typeface="Times New Roman"/>
                <a:cs typeface="Times New Roman"/>
              </a:rPr>
              <a:t> and Docker.</a:t>
            </a:r>
          </a:p>
          <a:p>
            <a:pPr marL="457200" indent="-368300" algn="just">
              <a:buClr>
                <a:srgbClr val="0C3571"/>
              </a:buClr>
              <a:buSzPts val="2200"/>
              <a:buFont typeface="Times New Roman"/>
              <a:buChar char="●"/>
            </a:pPr>
            <a:endParaRPr lang="en-IN" sz="2000" dirty="0"/>
          </a:p>
          <a:p>
            <a:pPr marL="457200" indent="-368300" algn="just">
              <a:buClr>
                <a:srgbClr val="0C3571"/>
              </a:buClr>
              <a:buSzPts val="2200"/>
              <a:buFont typeface="Times New Roman"/>
              <a:buChar char="●"/>
            </a:pPr>
            <a:endParaRPr lang="en-IN" sz="2000" dirty="0"/>
          </a:p>
          <a:p>
            <a:pPr marL="457200" indent="-368300" algn="just">
              <a:buClr>
                <a:srgbClr val="0C3571"/>
              </a:buClr>
              <a:buSzPts val="2200"/>
              <a:buFont typeface="Times New Roman"/>
              <a:buChar char="●"/>
            </a:pPr>
            <a:endParaRPr lang="en-IN" sz="2000" dirty="0"/>
          </a:p>
          <a:p>
            <a:pPr marL="457200" lvl="0" indent="-368300" algn="just" rtl="0">
              <a:lnSpc>
                <a:spcPct val="100000"/>
              </a:lnSpc>
              <a:spcBef>
                <a:spcPts val="0"/>
              </a:spcBef>
              <a:spcAft>
                <a:spcPts val="0"/>
              </a:spcAft>
              <a:buClr>
                <a:srgbClr val="0C3571"/>
              </a:buClr>
              <a:buSzPts val="2200"/>
              <a:buFont typeface="Times New Roman"/>
              <a:buChar char="●"/>
            </a:pPr>
            <a:endParaRPr sz="2200" dirty="0">
              <a:solidFill>
                <a:schemeClr val="dk1"/>
              </a:solidFill>
              <a:latin typeface="Times New Roman"/>
              <a:ea typeface="Times New Roman"/>
              <a:cs typeface="Times New Roman"/>
              <a:sym typeface="Times New Roman"/>
            </a:endParaRPr>
          </a:p>
        </p:txBody>
      </p:sp>
      <p:pic>
        <p:nvPicPr>
          <p:cNvPr id="105" name="Google Shape;105;p4"/>
          <p:cNvPicPr preferRelativeResize="0"/>
          <p:nvPr/>
        </p:nvPicPr>
        <p:blipFill rotWithShape="1">
          <a:blip r:embed="rId3">
            <a:alphaModFix/>
          </a:blip>
          <a:srcRect/>
          <a:stretch/>
        </p:blipFill>
        <p:spPr>
          <a:xfrm>
            <a:off x="10232571" y="304800"/>
            <a:ext cx="1578429" cy="105591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5"/>
          <p:cNvSpPr txBox="1"/>
          <p:nvPr/>
        </p:nvSpPr>
        <p:spPr>
          <a:xfrm>
            <a:off x="925275" y="193903"/>
            <a:ext cx="10417500" cy="1262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4000" dirty="0">
                <a:solidFill>
                  <a:srgbClr val="2F5496"/>
                </a:solidFill>
                <a:latin typeface="Times New Roman"/>
                <a:ea typeface="Times New Roman"/>
                <a:cs typeface="Times New Roman"/>
                <a:sym typeface="Times New Roman"/>
              </a:rPr>
              <a:t>Data generation &amp; Loading</a:t>
            </a:r>
            <a:endParaRPr dirty="0"/>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pic>
        <p:nvPicPr>
          <p:cNvPr id="111" name="Google Shape;111;p5"/>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12" name="Google Shape;112;p5"/>
          <p:cNvSpPr txBox="1"/>
          <p:nvPr/>
        </p:nvSpPr>
        <p:spPr>
          <a:xfrm>
            <a:off x="459925" y="1295150"/>
            <a:ext cx="10811700" cy="53346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r>
              <a:rPr lang="en-IN" sz="2400" dirty="0">
                <a:solidFill>
                  <a:srgbClr val="0C3571"/>
                </a:solidFill>
                <a:latin typeface="Times New Roman"/>
                <a:ea typeface="Times New Roman"/>
                <a:cs typeface="Times New Roman"/>
                <a:sym typeface="Times New Roman"/>
              </a:rPr>
              <a:t> </a:t>
            </a:r>
          </a:p>
          <a:p>
            <a:endParaRPr lang="en-IN" sz="2400" dirty="0">
              <a:solidFill>
                <a:srgbClr val="0C3571"/>
              </a:solidFill>
              <a:latin typeface="Times New Roman"/>
              <a:cs typeface="Times New Roman"/>
              <a:sym typeface="Times New Roman"/>
            </a:endParaRPr>
          </a:p>
          <a:p>
            <a:endParaRPr lang="en-IN" sz="2400" dirty="0">
              <a:solidFill>
                <a:srgbClr val="0C3571"/>
              </a:solidFill>
              <a:latin typeface="Times New Roman"/>
              <a:cs typeface="Times New Roman"/>
              <a:sym typeface="Times New Roman"/>
            </a:endParaRPr>
          </a:p>
          <a:p>
            <a:r>
              <a:rPr lang="en-IN" sz="2400" dirty="0">
                <a:solidFill>
                  <a:srgbClr val="0C3571"/>
                </a:solidFill>
                <a:latin typeface="Times New Roman"/>
                <a:cs typeface="Times New Roman"/>
              </a:rPr>
              <a:t>Dataset Name: heart_disease_dataset.csv</a:t>
            </a:r>
          </a:p>
          <a:p>
            <a:pPr lvl="0"/>
            <a:r>
              <a:rPr lang="en-IN" sz="2400" dirty="0">
                <a:solidFill>
                  <a:srgbClr val="0C3571"/>
                </a:solidFill>
                <a:latin typeface="Times New Roman"/>
                <a:cs typeface="Times New Roman"/>
              </a:rPr>
              <a:t>Total Columns: 14</a:t>
            </a:r>
          </a:p>
          <a:p>
            <a:pPr lvl="0"/>
            <a:r>
              <a:rPr lang="en-IN" sz="2400" dirty="0">
                <a:solidFill>
                  <a:srgbClr val="0C3571"/>
                </a:solidFill>
                <a:latin typeface="Times New Roman"/>
                <a:cs typeface="Times New Roman"/>
              </a:rPr>
              <a:t>Dataset Format: CSV</a:t>
            </a:r>
          </a:p>
          <a:p>
            <a:pPr lvl="0"/>
            <a:r>
              <a:rPr lang="en-IN" sz="2400" dirty="0">
                <a:solidFill>
                  <a:srgbClr val="0C3571"/>
                </a:solidFill>
                <a:latin typeface="Times New Roman"/>
                <a:cs typeface="Times New Roman"/>
              </a:rPr>
              <a:t>Target Variable: </a:t>
            </a:r>
            <a:r>
              <a:rPr lang="en-IN" sz="2400" dirty="0" err="1">
                <a:solidFill>
                  <a:srgbClr val="0C3571"/>
                </a:solidFill>
                <a:latin typeface="Times New Roman"/>
                <a:cs typeface="Times New Roman"/>
              </a:rPr>
              <a:t>heart_disease</a:t>
            </a:r>
            <a:endParaRPr lang="en-IN" sz="2400" dirty="0">
              <a:solidFill>
                <a:srgbClr val="0C3571"/>
              </a:solidFill>
              <a:latin typeface="Times New Roman"/>
              <a:cs typeface="Times New Roman"/>
            </a:endParaRPr>
          </a:p>
          <a:p>
            <a:pPr lvl="0"/>
            <a:r>
              <a:rPr lang="en-IN" sz="2400" dirty="0">
                <a:solidFill>
                  <a:srgbClr val="0C3571"/>
                </a:solidFill>
                <a:latin typeface="Times New Roman"/>
                <a:cs typeface="Times New Roman"/>
              </a:rPr>
              <a:t>0 = No Heart Disease</a:t>
            </a:r>
          </a:p>
          <a:p>
            <a:pPr lvl="0"/>
            <a:r>
              <a:rPr lang="en-IN" sz="2400" dirty="0">
                <a:solidFill>
                  <a:srgbClr val="0C3571"/>
                </a:solidFill>
                <a:latin typeface="Times New Roman"/>
                <a:cs typeface="Times New Roman"/>
              </a:rPr>
              <a:t>1 = Heart Disease</a:t>
            </a:r>
          </a:p>
          <a:p>
            <a:r>
              <a:rPr lang="en-IN" sz="2400" dirty="0">
                <a:solidFill>
                  <a:srgbClr val="0C3571"/>
                </a:solidFill>
                <a:latin typeface="Times New Roman"/>
                <a:cs typeface="Times New Roman"/>
              </a:rPr>
              <a:t>Python Libraries: Pandas and NumPy for data loading and manipulation.</a:t>
            </a:r>
          </a:p>
          <a:p>
            <a:pPr marL="0" lvl="0" indent="0" algn="l" rtl="0">
              <a:lnSpc>
                <a:spcPct val="100000"/>
              </a:lnSpc>
              <a:spcBef>
                <a:spcPts val="0"/>
              </a:spcBef>
              <a:spcAft>
                <a:spcPts val="0"/>
              </a:spcAft>
              <a:buNone/>
            </a:pPr>
            <a:endParaRPr sz="2400" dirty="0">
              <a:solidFill>
                <a:srgbClr val="0C3571"/>
              </a:solidFill>
              <a:latin typeface="Times New Roman"/>
              <a:ea typeface="Times New Roman"/>
              <a:cs typeface="Times New Roman"/>
              <a:sym typeface="Times New Roman"/>
            </a:endParaRPr>
          </a:p>
        </p:txBody>
      </p:sp>
      <p:graphicFrame>
        <p:nvGraphicFramePr>
          <p:cNvPr id="2" name="Table 1">
            <a:extLst>
              <a:ext uri="{FF2B5EF4-FFF2-40B4-BE49-F238E27FC236}">
                <a16:creationId xmlns:a16="http://schemas.microsoft.com/office/drawing/2014/main" id="{B6352902-2502-F4C0-D8AF-C0A9B45739D0}"/>
              </a:ext>
            </a:extLst>
          </p:cNvPr>
          <p:cNvGraphicFramePr>
            <a:graphicFrameLocks noGrp="1"/>
          </p:cNvGraphicFramePr>
          <p:nvPr>
            <p:extLst>
              <p:ext uri="{D42A27DB-BD31-4B8C-83A1-F6EECF244321}">
                <p14:modId xmlns:p14="http://schemas.microsoft.com/office/powerpoint/2010/main" val="3860773850"/>
              </p:ext>
            </p:extLst>
          </p:nvPr>
        </p:nvGraphicFramePr>
        <p:xfrm>
          <a:off x="556582" y="1456003"/>
          <a:ext cx="6502400" cy="741680"/>
        </p:xfrm>
        <a:graphic>
          <a:graphicData uri="http://schemas.openxmlformats.org/drawingml/2006/table">
            <a:tbl>
              <a:tblPr firstRow="1" bandRow="1">
                <a:tableStyleId>{073A0DAA-6AF3-43AB-8588-CEC1D06C72B9}</a:tableStyleId>
              </a:tblPr>
              <a:tblGrid>
                <a:gridCol w="1625600">
                  <a:extLst>
                    <a:ext uri="{9D8B030D-6E8A-4147-A177-3AD203B41FA5}">
                      <a16:colId xmlns:a16="http://schemas.microsoft.com/office/drawing/2014/main" val="542592250"/>
                    </a:ext>
                  </a:extLst>
                </a:gridCol>
                <a:gridCol w="1625600">
                  <a:extLst>
                    <a:ext uri="{9D8B030D-6E8A-4147-A177-3AD203B41FA5}">
                      <a16:colId xmlns:a16="http://schemas.microsoft.com/office/drawing/2014/main" val="4014686305"/>
                    </a:ext>
                  </a:extLst>
                </a:gridCol>
                <a:gridCol w="1625600">
                  <a:extLst>
                    <a:ext uri="{9D8B030D-6E8A-4147-A177-3AD203B41FA5}">
                      <a16:colId xmlns:a16="http://schemas.microsoft.com/office/drawing/2014/main" val="1325127882"/>
                    </a:ext>
                  </a:extLst>
                </a:gridCol>
                <a:gridCol w="1625600">
                  <a:extLst>
                    <a:ext uri="{9D8B030D-6E8A-4147-A177-3AD203B41FA5}">
                      <a16:colId xmlns:a16="http://schemas.microsoft.com/office/drawing/2014/main" val="1651479037"/>
                    </a:ext>
                  </a:extLst>
                </a:gridCol>
              </a:tblGrid>
              <a:tr h="370840">
                <a:tc>
                  <a:txBody>
                    <a:bodyPr/>
                    <a:lstStyle/>
                    <a:p>
                      <a:r>
                        <a:rPr lang="en-US" dirty="0"/>
                        <a:t>Total Records</a:t>
                      </a:r>
                      <a:endParaRPr lang="en-IN" dirty="0"/>
                    </a:p>
                  </a:txBody>
                  <a:tcPr/>
                </a:tc>
                <a:tc>
                  <a:txBody>
                    <a:bodyPr/>
                    <a:lstStyle/>
                    <a:p>
                      <a:r>
                        <a:rPr lang="en-US" dirty="0"/>
                        <a:t>Input Feature</a:t>
                      </a:r>
                      <a:endParaRPr lang="en-IN" dirty="0"/>
                    </a:p>
                  </a:txBody>
                  <a:tcPr/>
                </a:tc>
                <a:tc>
                  <a:txBody>
                    <a:bodyPr/>
                    <a:lstStyle/>
                    <a:p>
                      <a:r>
                        <a:rPr lang="en-US" dirty="0"/>
                        <a:t>Target Column</a:t>
                      </a:r>
                      <a:endParaRPr lang="en-IN" dirty="0"/>
                    </a:p>
                  </a:txBody>
                  <a:tcPr/>
                </a:tc>
                <a:tc>
                  <a:txBody>
                    <a:bodyPr/>
                    <a:lstStyle/>
                    <a:p>
                      <a:r>
                        <a:rPr lang="en-US" dirty="0"/>
                        <a:t>Missing Values</a:t>
                      </a:r>
                      <a:endParaRPr lang="en-IN" dirty="0"/>
                    </a:p>
                  </a:txBody>
                  <a:tcPr/>
                </a:tc>
                <a:extLst>
                  <a:ext uri="{0D108BD9-81ED-4DB2-BD59-A6C34878D82A}">
                    <a16:rowId xmlns:a16="http://schemas.microsoft.com/office/drawing/2014/main" val="2020313929"/>
                  </a:ext>
                </a:extLst>
              </a:tr>
              <a:tr h="370840">
                <a:tc>
                  <a:txBody>
                    <a:bodyPr/>
                    <a:lstStyle/>
                    <a:p>
                      <a:r>
                        <a:rPr lang="en-US" dirty="0"/>
                        <a:t>4</a:t>
                      </a:r>
                      <a:r>
                        <a:rPr lang="en-IN" dirty="0"/>
                        <a:t>00</a:t>
                      </a:r>
                      <a:endParaRPr lang="en-US" dirty="0"/>
                    </a:p>
                  </a:txBody>
                  <a:tcPr/>
                </a:tc>
                <a:tc>
                  <a:txBody>
                    <a:bodyPr/>
                    <a:lstStyle/>
                    <a:p>
                      <a:r>
                        <a:rPr lang="en-US" dirty="0"/>
                        <a:t>13</a:t>
                      </a:r>
                      <a:endParaRPr lang="en-IN" dirty="0"/>
                    </a:p>
                  </a:txBody>
                  <a:tcPr/>
                </a:tc>
                <a:tc>
                  <a:txBody>
                    <a:bodyPr/>
                    <a:lstStyle/>
                    <a:p>
                      <a:r>
                        <a:rPr lang="en-US" dirty="0" err="1"/>
                        <a:t>Heart_disease</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34281212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6"/>
          <p:cNvSpPr txBox="1"/>
          <p:nvPr/>
        </p:nvSpPr>
        <p:spPr>
          <a:xfrm>
            <a:off x="925286" y="566057"/>
            <a:ext cx="10417628" cy="12618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4000">
                <a:solidFill>
                  <a:srgbClr val="2F5496"/>
                </a:solidFill>
                <a:latin typeface="Times New Roman"/>
                <a:ea typeface="Times New Roman"/>
                <a:cs typeface="Times New Roman"/>
                <a:sym typeface="Times New Roman"/>
              </a:rPr>
              <a:t>Data Exploration &amp; Understanding</a:t>
            </a:r>
            <a:endParaRPr/>
          </a:p>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pic>
        <p:nvPicPr>
          <p:cNvPr id="118" name="Google Shape;118;p6"/>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19" name="Google Shape;119;p6"/>
          <p:cNvSpPr txBox="1"/>
          <p:nvPr/>
        </p:nvSpPr>
        <p:spPr>
          <a:xfrm>
            <a:off x="631500" y="1827941"/>
            <a:ext cx="11005200" cy="4776300"/>
          </a:xfrm>
          <a:prstGeom prst="rect">
            <a:avLst/>
          </a:prstGeom>
          <a:noFill/>
          <a:ln>
            <a:noFill/>
          </a:ln>
        </p:spPr>
        <p:txBody>
          <a:bodyPr spcFirstLastPara="1" wrap="square" lIns="91425" tIns="91425" rIns="91425" bIns="91425" anchor="t" anchorCtr="0">
            <a:noAutofit/>
          </a:bodyPr>
          <a:lstStyle/>
          <a:p>
            <a:pPr marL="342900" indent="-342900">
              <a:buFont typeface="Arial" panose="020B0604020202020204" pitchFamily="34" charset="0"/>
              <a:buChar char="•"/>
            </a:pPr>
            <a:r>
              <a:rPr lang="en-IN" sz="2300" dirty="0">
                <a:solidFill>
                  <a:srgbClr val="0C3571"/>
                </a:solidFill>
                <a:latin typeface="Times New Roman"/>
                <a:cs typeface="Times New Roman"/>
              </a:rPr>
              <a:t>Dataset Source: Heart Disease Dataset (heart_disease_dataset.csv), containing patient demographic, clinical, and diagnostic information.</a:t>
            </a:r>
          </a:p>
          <a:p>
            <a:pPr marL="342900" indent="-342900">
              <a:buFont typeface="Arial" panose="020B0604020202020204" pitchFamily="34" charset="0"/>
              <a:buChar char="•"/>
            </a:pPr>
            <a:endParaRPr lang="en-IN" sz="2300" dirty="0">
              <a:solidFill>
                <a:srgbClr val="0C3571"/>
              </a:solidFill>
              <a:latin typeface="Times New Roman"/>
              <a:cs typeface="Times New Roman"/>
            </a:endParaRPr>
          </a:p>
          <a:p>
            <a:pPr marL="342900" indent="-342900">
              <a:buFont typeface="Arial" panose="020B0604020202020204" pitchFamily="34" charset="0"/>
              <a:buChar char="•"/>
            </a:pPr>
            <a:r>
              <a:rPr lang="en-IN" sz="2300" dirty="0">
                <a:solidFill>
                  <a:srgbClr val="0C3571"/>
                </a:solidFill>
                <a:latin typeface="Times New Roman"/>
                <a:cs typeface="Times New Roman"/>
              </a:rPr>
              <a:t>Dataset Size &amp; Target: 400 patient records with 13 input features and 1 target variable, </a:t>
            </a:r>
            <a:r>
              <a:rPr lang="en-IN" sz="2300" dirty="0" err="1">
                <a:solidFill>
                  <a:srgbClr val="0C3571"/>
                </a:solidFill>
                <a:latin typeface="Times New Roman"/>
                <a:cs typeface="Times New Roman"/>
              </a:rPr>
              <a:t>heart_disease</a:t>
            </a:r>
            <a:r>
              <a:rPr lang="en-IN" sz="2300" dirty="0">
                <a:solidFill>
                  <a:srgbClr val="0C3571"/>
                </a:solidFill>
                <a:latin typeface="Times New Roman"/>
                <a:cs typeface="Times New Roman"/>
              </a:rPr>
              <a:t> (0 = No Heart Disease, 1 = Heart Disease).</a:t>
            </a:r>
          </a:p>
          <a:p>
            <a:pPr marL="342900" indent="-342900">
              <a:buFont typeface="Arial" panose="020B0604020202020204" pitchFamily="34" charset="0"/>
              <a:buChar char="•"/>
            </a:pPr>
            <a:endParaRPr lang="en-IN" sz="2300" dirty="0">
              <a:solidFill>
                <a:srgbClr val="0C3571"/>
              </a:solidFill>
              <a:latin typeface="Times New Roman"/>
              <a:cs typeface="Times New Roman"/>
            </a:endParaRPr>
          </a:p>
          <a:p>
            <a:pPr marL="342900" indent="-342900">
              <a:buFont typeface="Arial" panose="020B0604020202020204" pitchFamily="34" charset="0"/>
              <a:buChar char="•"/>
            </a:pPr>
            <a:r>
              <a:rPr lang="en-IN" sz="2300" dirty="0">
                <a:solidFill>
                  <a:srgbClr val="0C3571"/>
                </a:solidFill>
                <a:latin typeface="Times New Roman"/>
                <a:cs typeface="Times New Roman"/>
              </a:rPr>
              <a:t>Key Features – Patient Information: Age, Sex, Chest Pain Type, Resting Blood Pressure, and Cholesterol.</a:t>
            </a:r>
          </a:p>
          <a:p>
            <a:pPr marL="342900" indent="-342900">
              <a:buFont typeface="Arial" panose="020B0604020202020204" pitchFamily="34" charset="0"/>
              <a:buChar char="•"/>
            </a:pPr>
            <a:endParaRPr lang="en-IN" sz="2300" dirty="0">
              <a:solidFill>
                <a:srgbClr val="0C3571"/>
              </a:solidFill>
              <a:latin typeface="Times New Roman"/>
              <a:cs typeface="Times New Roman"/>
            </a:endParaRPr>
          </a:p>
          <a:p>
            <a:pPr marL="342900" indent="-342900">
              <a:buFont typeface="Arial" panose="020B0604020202020204" pitchFamily="34" charset="0"/>
              <a:buChar char="•"/>
            </a:pPr>
            <a:r>
              <a:rPr lang="en-IN" sz="2300" dirty="0">
                <a:solidFill>
                  <a:srgbClr val="0C3571"/>
                </a:solidFill>
                <a:latin typeface="Times New Roman"/>
                <a:cs typeface="Times New Roman"/>
              </a:rPr>
              <a:t>Clinical &amp; Diagnostic Features: Fasting Blood Sugar, Resting ECG, Maximum Heart Rate, Exercise-Induced Angina, and ST Depression.</a:t>
            </a:r>
          </a:p>
          <a:p>
            <a:pPr marL="342900" indent="-342900">
              <a:buFont typeface="Arial" panose="020B0604020202020204" pitchFamily="34" charset="0"/>
              <a:buChar char="•"/>
            </a:pPr>
            <a:endParaRPr lang="en-IN" sz="2300" dirty="0">
              <a:solidFill>
                <a:srgbClr val="0C3571"/>
              </a:solidFill>
              <a:latin typeface="Times New Roman"/>
              <a:cs typeface="Times New Roman"/>
            </a:endParaRPr>
          </a:p>
          <a:p>
            <a:pPr marL="342900" indent="-342900">
              <a:buFont typeface="Arial" panose="020B0604020202020204" pitchFamily="34" charset="0"/>
              <a:buChar char="•"/>
            </a:pPr>
            <a:r>
              <a:rPr lang="en-IN" sz="2300" dirty="0">
                <a:solidFill>
                  <a:srgbClr val="0C3571"/>
                </a:solidFill>
                <a:latin typeface="Times New Roman"/>
                <a:cs typeface="Times New Roman"/>
              </a:rPr>
              <a:t>Additional Cardiac Features: ST Slope, Number of Major Vessels, and Thalassemia.</a:t>
            </a:r>
          </a:p>
          <a:p>
            <a:endParaRPr sz="2200" dirty="0">
              <a:solidFill>
                <a:srgbClr val="0C357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7"/>
          <p:cNvSpPr txBox="1"/>
          <p:nvPr/>
        </p:nvSpPr>
        <p:spPr>
          <a:xfrm>
            <a:off x="533825" y="155513"/>
            <a:ext cx="10417500" cy="1416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1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4700">
                <a:solidFill>
                  <a:srgbClr val="2F5496"/>
                </a:solidFill>
                <a:latin typeface="Times New Roman"/>
                <a:ea typeface="Times New Roman"/>
                <a:cs typeface="Times New Roman"/>
                <a:sym typeface="Times New Roman"/>
              </a:rPr>
              <a:t>Exploratory Data Analysis</a:t>
            </a:r>
            <a:endParaRPr sz="2100"/>
          </a:p>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pic>
        <p:nvPicPr>
          <p:cNvPr id="125" name="Google Shape;125;p7"/>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26" name="Google Shape;126;p7"/>
          <p:cNvSpPr txBox="1"/>
          <p:nvPr/>
        </p:nvSpPr>
        <p:spPr>
          <a:xfrm>
            <a:off x="394500" y="1540925"/>
            <a:ext cx="11416500" cy="4697700"/>
          </a:xfrm>
          <a:prstGeom prst="rect">
            <a:avLst/>
          </a:prstGeom>
          <a:noFill/>
          <a:ln>
            <a:noFill/>
          </a:ln>
        </p:spPr>
        <p:txBody>
          <a:bodyPr spcFirstLastPara="1" wrap="square" lIns="91425" tIns="91425" rIns="91425" bIns="91425" anchor="t" anchorCtr="0">
            <a:noAutofit/>
          </a:bodyPr>
          <a:lstStyle/>
          <a:p>
            <a:pPr marL="514350" indent="-514350">
              <a:buFont typeface="+mj-lt"/>
              <a:buAutoNum type="romanLcPeriod"/>
            </a:pPr>
            <a:r>
              <a:rPr lang="en-IN" sz="2400" dirty="0">
                <a:solidFill>
                  <a:srgbClr val="0C3571"/>
                </a:solidFill>
                <a:latin typeface="Times New Roman"/>
                <a:cs typeface="Times New Roman"/>
              </a:rPr>
              <a:t>Purpose: Understand patterns, relationships, and distributions in patient health data.</a:t>
            </a:r>
          </a:p>
          <a:p>
            <a:pPr marL="514350" lvl="0" indent="-514350">
              <a:buFont typeface="+mj-lt"/>
              <a:buAutoNum type="romanLcPeriod"/>
            </a:pPr>
            <a:r>
              <a:rPr lang="en-IN" sz="2400" dirty="0" err="1">
                <a:solidFill>
                  <a:srgbClr val="0C3571"/>
                </a:solidFill>
                <a:latin typeface="Times New Roman"/>
                <a:cs typeface="Times New Roman"/>
              </a:rPr>
              <a:t>Analyzed</a:t>
            </a:r>
            <a:r>
              <a:rPr lang="en-IN" sz="2400" dirty="0">
                <a:solidFill>
                  <a:srgbClr val="0C3571"/>
                </a:solidFill>
                <a:latin typeface="Times New Roman"/>
                <a:cs typeface="Times New Roman"/>
              </a:rPr>
              <a:t> age, cholesterol, blood pressure, and maximum heart rate.</a:t>
            </a:r>
          </a:p>
          <a:p>
            <a:pPr marL="514350" lvl="0" indent="-514350">
              <a:buFont typeface="+mj-lt"/>
              <a:buAutoNum type="romanLcPeriod"/>
            </a:pPr>
            <a:r>
              <a:rPr lang="en-IN" sz="2400" dirty="0">
                <a:solidFill>
                  <a:srgbClr val="0C3571"/>
                </a:solidFill>
                <a:latin typeface="Times New Roman"/>
                <a:cs typeface="Times New Roman"/>
              </a:rPr>
              <a:t>Examined the distribution of patients with and without heart disease.</a:t>
            </a:r>
          </a:p>
          <a:p>
            <a:pPr marL="514350" lvl="0" indent="-514350">
              <a:buFont typeface="+mj-lt"/>
              <a:buAutoNum type="romanLcPeriod"/>
            </a:pPr>
            <a:r>
              <a:rPr lang="en-IN" sz="2400" dirty="0">
                <a:solidFill>
                  <a:srgbClr val="0C3571"/>
                </a:solidFill>
                <a:latin typeface="Times New Roman"/>
                <a:cs typeface="Times New Roman"/>
              </a:rPr>
              <a:t>Checked for missing values and duplicate records.</a:t>
            </a:r>
          </a:p>
          <a:p>
            <a:pPr marL="514350" lvl="0" indent="-514350">
              <a:buFont typeface="+mj-lt"/>
              <a:buAutoNum type="romanLcPeriod"/>
            </a:pPr>
            <a:r>
              <a:rPr lang="en-IN" sz="2400" dirty="0">
                <a:solidFill>
                  <a:srgbClr val="0C3571"/>
                </a:solidFill>
                <a:latin typeface="Times New Roman"/>
                <a:cs typeface="Times New Roman"/>
              </a:rPr>
              <a:t>Explored relationships between clinical features and the target variable.</a:t>
            </a:r>
          </a:p>
          <a:p>
            <a:pPr marL="514350" lvl="0" indent="-514350">
              <a:buFont typeface="+mj-lt"/>
              <a:buAutoNum type="romanLcPeriod"/>
            </a:pPr>
            <a:r>
              <a:rPr lang="en-IN" sz="2400" dirty="0">
                <a:solidFill>
                  <a:srgbClr val="0C3571"/>
                </a:solidFill>
                <a:latin typeface="Times New Roman"/>
                <a:cs typeface="Times New Roman"/>
              </a:rPr>
              <a:t>Identified features potentially useful for heart disease prediction.</a:t>
            </a:r>
          </a:p>
          <a:p>
            <a:pPr marL="12700" lvl="0" indent="-12700" algn="l" rtl="0">
              <a:lnSpc>
                <a:spcPct val="100000"/>
              </a:lnSpc>
              <a:spcBef>
                <a:spcPts val="0"/>
              </a:spcBef>
              <a:spcAft>
                <a:spcPts val="0"/>
              </a:spcAft>
              <a:buClr>
                <a:schemeClr val="dk1"/>
              </a:buClr>
              <a:buSzPts val="1100"/>
              <a:buFont typeface="Arial"/>
              <a:buNone/>
            </a:pPr>
            <a:endParaRPr sz="2400" dirty="0">
              <a:solidFill>
                <a:srgbClr val="0C357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4E97F857-0E9F-4099-0DB0-3F78D6305319}"/>
              </a:ext>
            </a:extLst>
          </p:cNvPr>
          <p:cNvPicPr>
            <a:picLocks noChangeAspect="1"/>
          </p:cNvPicPr>
          <p:nvPr/>
        </p:nvPicPr>
        <p:blipFill>
          <a:blip r:embed="rId4"/>
          <a:srcRect b="4920"/>
          <a:stretch>
            <a:fillRect/>
          </a:stretch>
        </p:blipFill>
        <p:spPr>
          <a:xfrm>
            <a:off x="3255689" y="3987028"/>
            <a:ext cx="4973771" cy="266009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8"/>
          <p:cNvSpPr txBox="1"/>
          <p:nvPr/>
        </p:nvSpPr>
        <p:spPr>
          <a:xfrm>
            <a:off x="519300" y="304800"/>
            <a:ext cx="10417500" cy="130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4300">
                <a:solidFill>
                  <a:srgbClr val="2F5496"/>
                </a:solidFill>
                <a:latin typeface="Times New Roman"/>
                <a:ea typeface="Times New Roman"/>
                <a:cs typeface="Times New Roman"/>
                <a:sym typeface="Times New Roman"/>
              </a:rPr>
              <a:t>Data Preprocessing &amp; Feature Engineering</a:t>
            </a:r>
            <a:endParaRPr sz="1700"/>
          </a:p>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pic>
        <p:nvPicPr>
          <p:cNvPr id="132" name="Google Shape;132;p8"/>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33" name="Google Shape;133;p8"/>
          <p:cNvSpPr txBox="1"/>
          <p:nvPr/>
        </p:nvSpPr>
        <p:spPr>
          <a:xfrm>
            <a:off x="292875" y="1412200"/>
            <a:ext cx="11265600" cy="5161500"/>
          </a:xfrm>
          <a:prstGeom prst="rect">
            <a:avLst/>
          </a:prstGeom>
          <a:noFill/>
          <a:ln>
            <a:noFill/>
          </a:ln>
        </p:spPr>
        <p:txBody>
          <a:bodyPr spcFirstLastPara="1" wrap="square" lIns="91425" tIns="91425" rIns="91425" bIns="91425" anchor="t" anchorCtr="0">
            <a:noAutofit/>
          </a:bodyPr>
          <a:lstStyle/>
          <a:p>
            <a:pPr marL="457200" lvl="0" indent="-457200">
              <a:buFont typeface="+mj-lt"/>
              <a:buAutoNum type="arabicPeriod"/>
            </a:pPr>
            <a:r>
              <a:rPr lang="en-IN" sz="2300" dirty="0">
                <a:solidFill>
                  <a:srgbClr val="0C3571"/>
                </a:solidFill>
                <a:latin typeface="Times New Roman"/>
                <a:cs typeface="Times New Roman"/>
              </a:rPr>
              <a:t>Missing Values: No missing values found in the dataset.</a:t>
            </a:r>
          </a:p>
          <a:p>
            <a:pPr marL="457200" lvl="0" indent="-457200">
              <a:buFont typeface="+mj-lt"/>
              <a:buAutoNum type="arabicPeriod"/>
            </a:pPr>
            <a:endParaRPr lang="en-IN" sz="2300" dirty="0">
              <a:solidFill>
                <a:srgbClr val="0C3571"/>
              </a:solidFill>
              <a:latin typeface="Times New Roman"/>
              <a:cs typeface="Times New Roman"/>
            </a:endParaRPr>
          </a:p>
          <a:p>
            <a:pPr marL="457200" lvl="0" indent="-457200">
              <a:buFont typeface="+mj-lt"/>
              <a:buAutoNum type="arabicPeriod"/>
            </a:pPr>
            <a:r>
              <a:rPr lang="en-IN" sz="2300" dirty="0">
                <a:solidFill>
                  <a:srgbClr val="0C3571"/>
                </a:solidFill>
                <a:latin typeface="Times New Roman"/>
                <a:cs typeface="Times New Roman"/>
              </a:rPr>
              <a:t>Duplicate Records: No duplicate rows detected.</a:t>
            </a:r>
          </a:p>
          <a:p>
            <a:pPr marL="457200" lvl="0" indent="-457200">
              <a:buFont typeface="+mj-lt"/>
              <a:buAutoNum type="arabicPeriod"/>
            </a:pPr>
            <a:endParaRPr lang="en-IN" sz="2300" dirty="0">
              <a:solidFill>
                <a:srgbClr val="0C3571"/>
              </a:solidFill>
              <a:latin typeface="Times New Roman"/>
              <a:cs typeface="Times New Roman"/>
            </a:endParaRPr>
          </a:p>
          <a:p>
            <a:pPr marL="457200" lvl="0" indent="-457200">
              <a:buFont typeface="+mj-lt"/>
              <a:buAutoNum type="arabicPeriod"/>
            </a:pPr>
            <a:r>
              <a:rPr lang="en-IN" sz="2300" dirty="0">
                <a:solidFill>
                  <a:srgbClr val="0C3571"/>
                </a:solidFill>
                <a:latin typeface="Times New Roman"/>
                <a:cs typeface="Times New Roman"/>
              </a:rPr>
              <a:t>Encoding: All features are already represented numerically.</a:t>
            </a:r>
          </a:p>
          <a:p>
            <a:pPr marL="457200" lvl="0" indent="-457200">
              <a:buFont typeface="+mj-lt"/>
              <a:buAutoNum type="arabicPeriod"/>
            </a:pPr>
            <a:endParaRPr lang="en-IN" sz="2300" dirty="0">
              <a:solidFill>
                <a:srgbClr val="0C3571"/>
              </a:solidFill>
              <a:latin typeface="Times New Roman"/>
              <a:cs typeface="Times New Roman"/>
            </a:endParaRPr>
          </a:p>
          <a:p>
            <a:pPr marL="457200" lvl="0" indent="-457200">
              <a:buFont typeface="+mj-lt"/>
              <a:buAutoNum type="arabicPeriod"/>
            </a:pPr>
            <a:r>
              <a:rPr lang="en-IN" sz="2300" dirty="0">
                <a:solidFill>
                  <a:srgbClr val="0C3571"/>
                </a:solidFill>
                <a:latin typeface="Times New Roman"/>
                <a:cs typeface="Times New Roman"/>
              </a:rPr>
              <a:t>Feature Selection: Use the 13 clinical attributes as input features.</a:t>
            </a:r>
          </a:p>
          <a:p>
            <a:pPr marL="457200" lvl="0" indent="-457200">
              <a:buFont typeface="+mj-lt"/>
              <a:buAutoNum type="arabicPeriod"/>
            </a:pPr>
            <a:endParaRPr lang="en-IN" sz="2300" dirty="0">
              <a:solidFill>
                <a:srgbClr val="0C3571"/>
              </a:solidFill>
              <a:latin typeface="Times New Roman"/>
              <a:cs typeface="Times New Roman"/>
            </a:endParaRPr>
          </a:p>
          <a:p>
            <a:pPr marL="457200" lvl="0" indent="-457200">
              <a:buFont typeface="+mj-lt"/>
              <a:buAutoNum type="arabicPeriod"/>
            </a:pPr>
            <a:r>
              <a:rPr lang="en-IN" sz="2300" dirty="0">
                <a:solidFill>
                  <a:srgbClr val="0C3571"/>
                </a:solidFill>
                <a:latin typeface="Times New Roman"/>
                <a:cs typeface="Times New Roman"/>
              </a:rPr>
              <a:t>Feature Scaling: Apply standardization where required, especially for Logistic Regression and SVM.</a:t>
            </a:r>
          </a:p>
          <a:p>
            <a:pPr marL="457200" lvl="0" indent="-457200">
              <a:buFont typeface="+mj-lt"/>
              <a:buAutoNum type="arabicPeriod"/>
            </a:pPr>
            <a:endParaRPr lang="en-IN" sz="2300" dirty="0">
              <a:solidFill>
                <a:srgbClr val="0C3571"/>
              </a:solidFill>
              <a:latin typeface="Times New Roman"/>
              <a:cs typeface="Times New Roman"/>
            </a:endParaRPr>
          </a:p>
          <a:p>
            <a:pPr marL="457200" lvl="0" indent="-457200">
              <a:buFont typeface="+mj-lt"/>
              <a:buAutoNum type="arabicPeriod"/>
            </a:pPr>
            <a:r>
              <a:rPr lang="en-IN" sz="2300" dirty="0">
                <a:solidFill>
                  <a:srgbClr val="0C3571"/>
                </a:solidFill>
                <a:latin typeface="Times New Roman"/>
                <a:cs typeface="Times New Roman"/>
              </a:rPr>
              <a:t>Data Splitting: Divide the dataset into training and testing subsets.</a:t>
            </a:r>
          </a:p>
          <a:p>
            <a:pPr marL="0" lvl="0" indent="0" algn="just" rtl="0">
              <a:lnSpc>
                <a:spcPct val="100000"/>
              </a:lnSpc>
              <a:spcBef>
                <a:spcPts val="0"/>
              </a:spcBef>
              <a:spcAft>
                <a:spcPts val="0"/>
              </a:spcAft>
              <a:buClr>
                <a:schemeClr val="dk1"/>
              </a:buClr>
              <a:buSzPts val="1100"/>
              <a:buFont typeface="Arial"/>
              <a:buNone/>
            </a:pPr>
            <a:r>
              <a:rPr lang="en-IN" sz="2300" dirty="0">
                <a:solidFill>
                  <a:srgbClr val="0C3571"/>
                </a:solidFill>
                <a:latin typeface="Times New Roman"/>
                <a:cs typeface="Times New Roman"/>
                <a:sym typeface="Times New Roman"/>
              </a:rPr>
              <a:t>.</a:t>
            </a:r>
            <a:endParaRPr sz="2300" dirty="0">
              <a:solidFill>
                <a:srgbClr val="0C3571"/>
              </a:solidFill>
              <a:latin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g38cdb4fd196_2_27"/>
          <p:cNvSpPr txBox="1"/>
          <p:nvPr/>
        </p:nvSpPr>
        <p:spPr>
          <a:xfrm>
            <a:off x="887261" y="201719"/>
            <a:ext cx="10417500" cy="1262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4000" dirty="0">
                <a:solidFill>
                  <a:srgbClr val="2F5496"/>
                </a:solidFill>
                <a:latin typeface="Times New Roman"/>
                <a:ea typeface="Times New Roman"/>
                <a:cs typeface="Times New Roman"/>
                <a:sym typeface="Times New Roman"/>
              </a:rPr>
              <a:t>Model Building &amp; Training</a:t>
            </a:r>
            <a:endParaRPr dirty="0"/>
          </a:p>
          <a:p>
            <a:pPr marL="0" marR="0" lvl="0" indent="0" algn="l" rtl="0">
              <a:spcBef>
                <a:spcPts val="0"/>
              </a:spcBef>
              <a:spcAft>
                <a:spcPts val="0"/>
              </a:spcAft>
              <a:buNone/>
            </a:pPr>
            <a:r>
              <a:rPr lang="en-IN" sz="1800" dirty="0">
                <a:solidFill>
                  <a:schemeClr val="dk1"/>
                </a:solidFill>
                <a:latin typeface="Times New Roman"/>
                <a:ea typeface="Times New Roman"/>
                <a:cs typeface="Times New Roman"/>
                <a:sym typeface="Times New Roman"/>
              </a:rPr>
              <a:t> </a:t>
            </a:r>
            <a:endParaRPr sz="1800" dirty="0">
              <a:solidFill>
                <a:schemeClr val="dk1"/>
              </a:solidFill>
              <a:latin typeface="Times New Roman"/>
              <a:ea typeface="Times New Roman"/>
              <a:cs typeface="Times New Roman"/>
              <a:sym typeface="Times New Roman"/>
            </a:endParaRPr>
          </a:p>
        </p:txBody>
      </p:sp>
      <p:pic>
        <p:nvPicPr>
          <p:cNvPr id="146" name="Google Shape;146;g38cdb4fd196_2_27"/>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47" name="Google Shape;147;g38cdb4fd196_2_27"/>
          <p:cNvSpPr txBox="1"/>
          <p:nvPr/>
        </p:nvSpPr>
        <p:spPr>
          <a:xfrm>
            <a:off x="275725" y="1027700"/>
            <a:ext cx="11187600" cy="3897960"/>
          </a:xfrm>
          <a:prstGeom prst="rect">
            <a:avLst/>
          </a:prstGeom>
          <a:noFill/>
          <a:ln>
            <a:noFill/>
          </a:ln>
        </p:spPr>
        <p:txBody>
          <a:bodyPr spcFirstLastPara="1" wrap="square" lIns="91425" tIns="91425" rIns="91425" bIns="91425" anchor="t" anchorCtr="0">
            <a:spAutoFit/>
          </a:bodyPr>
          <a:lstStyle/>
          <a:p>
            <a:pPr marL="457200" indent="-457200">
              <a:buFont typeface="+mj-lt"/>
              <a:buAutoNum type="arabicPeriod"/>
            </a:pPr>
            <a:endParaRPr lang="en-IN" sz="2300" dirty="0">
              <a:solidFill>
                <a:srgbClr val="0C3571"/>
              </a:solidFill>
              <a:latin typeface="Times New Roman"/>
              <a:cs typeface="Times New Roman"/>
            </a:endParaRPr>
          </a:p>
          <a:p>
            <a:r>
              <a:rPr lang="en-IN" sz="2300" dirty="0">
                <a:solidFill>
                  <a:srgbClr val="0C3571"/>
                </a:solidFill>
                <a:latin typeface="Times New Roman"/>
                <a:cs typeface="Times New Roman"/>
              </a:rPr>
              <a:t>The machine learning models are developed using Python and Scikit-learn.</a:t>
            </a:r>
          </a:p>
          <a:p>
            <a:r>
              <a:rPr lang="en-IN" sz="2300" dirty="0">
                <a:solidFill>
                  <a:srgbClr val="0C3571"/>
                </a:solidFill>
                <a:latin typeface="Times New Roman"/>
                <a:cs typeface="Times New Roman"/>
              </a:rPr>
              <a:t>Training Process: Load the </a:t>
            </a:r>
            <a:r>
              <a:rPr lang="en-IN" sz="2300" dirty="0" err="1">
                <a:solidFill>
                  <a:srgbClr val="0C3571"/>
                </a:solidFill>
                <a:latin typeface="Times New Roman"/>
                <a:cs typeface="Times New Roman"/>
              </a:rPr>
              <a:t>preprocessed</a:t>
            </a:r>
            <a:r>
              <a:rPr lang="en-IN" sz="2300" dirty="0">
                <a:solidFill>
                  <a:srgbClr val="0C3571"/>
                </a:solidFill>
                <a:latin typeface="Times New Roman"/>
                <a:cs typeface="Times New Roman"/>
              </a:rPr>
              <a:t> dataset.</a:t>
            </a:r>
          </a:p>
          <a:p>
            <a:endParaRPr lang="en-IN" sz="2400" dirty="0"/>
          </a:p>
          <a:p>
            <a:pPr marL="457200" indent="-457200">
              <a:buFont typeface="+mj-lt"/>
              <a:buAutoNum type="arabicPeriod"/>
            </a:pPr>
            <a:r>
              <a:rPr lang="en-IN" sz="2300" dirty="0">
                <a:solidFill>
                  <a:srgbClr val="0C3571"/>
                </a:solidFill>
                <a:latin typeface="Times New Roman"/>
                <a:cs typeface="Times New Roman"/>
              </a:rPr>
              <a:t>Separate input features (X) and target variable (y).</a:t>
            </a:r>
          </a:p>
          <a:p>
            <a:pPr marL="457200" indent="-457200">
              <a:buFont typeface="+mj-lt"/>
              <a:buAutoNum type="arabicPeriod"/>
            </a:pPr>
            <a:r>
              <a:rPr lang="en-IN" sz="2300" dirty="0">
                <a:solidFill>
                  <a:srgbClr val="0C3571"/>
                </a:solidFill>
                <a:latin typeface="Times New Roman"/>
                <a:cs typeface="Times New Roman"/>
              </a:rPr>
              <a:t>Split the dataset into training and testing sets.</a:t>
            </a:r>
          </a:p>
          <a:p>
            <a:pPr marL="457200" indent="-457200">
              <a:buFont typeface="+mj-lt"/>
              <a:buAutoNum type="arabicPeriod"/>
            </a:pPr>
            <a:r>
              <a:rPr lang="en-IN" sz="2300" dirty="0">
                <a:solidFill>
                  <a:srgbClr val="0C3571"/>
                </a:solidFill>
                <a:latin typeface="Times New Roman"/>
                <a:cs typeface="Times New Roman"/>
              </a:rPr>
              <a:t>Train Logistic Regression, Decision Tree, Random Forest, and SVM models.</a:t>
            </a:r>
          </a:p>
          <a:p>
            <a:pPr marL="457200" indent="-457200">
              <a:buFont typeface="+mj-lt"/>
              <a:buAutoNum type="arabicPeriod"/>
            </a:pPr>
            <a:r>
              <a:rPr lang="en-IN" sz="2300" dirty="0">
                <a:solidFill>
                  <a:srgbClr val="0C3571"/>
                </a:solidFill>
                <a:latin typeface="Times New Roman"/>
                <a:cs typeface="Times New Roman"/>
              </a:rPr>
              <a:t>Generate predictions using the testing dataset.</a:t>
            </a:r>
          </a:p>
          <a:p>
            <a:pPr marL="457200" indent="-457200">
              <a:buFont typeface="+mj-lt"/>
              <a:buAutoNum type="arabicPeriod"/>
            </a:pPr>
            <a:r>
              <a:rPr lang="en-IN" sz="2300" dirty="0">
                <a:solidFill>
                  <a:srgbClr val="0C3571"/>
                </a:solidFill>
                <a:latin typeface="Times New Roman"/>
                <a:cs typeface="Times New Roman"/>
              </a:rPr>
              <a:t>Compare results to identify the most suitable model.</a:t>
            </a:r>
          </a:p>
          <a:p>
            <a:pPr marL="0" lvl="0" indent="0" algn="just" rtl="0">
              <a:lnSpc>
                <a:spcPct val="115000"/>
              </a:lnSpc>
              <a:spcBef>
                <a:spcPts val="0"/>
              </a:spcBef>
              <a:spcAft>
                <a:spcPts val="0"/>
              </a:spcAft>
              <a:buNone/>
            </a:pPr>
            <a:endParaRPr sz="2200" dirty="0">
              <a:solidFill>
                <a:srgbClr val="0C3571"/>
              </a:solidFill>
              <a:latin typeface="Times New Roman"/>
              <a:ea typeface="Times New Roman"/>
              <a:cs typeface="Times New Roman"/>
              <a:sym typeface="Times New Roman"/>
            </a:endParaRPr>
          </a:p>
        </p:txBody>
      </p:sp>
      <p:graphicFrame>
        <p:nvGraphicFramePr>
          <p:cNvPr id="19" name="Diagram 18">
            <a:extLst>
              <a:ext uri="{FF2B5EF4-FFF2-40B4-BE49-F238E27FC236}">
                <a16:creationId xmlns:a16="http://schemas.microsoft.com/office/drawing/2014/main" id="{F1D22AD6-6DBF-14D6-9186-59A556A62425}"/>
              </a:ext>
            </a:extLst>
          </p:cNvPr>
          <p:cNvGraphicFramePr/>
          <p:nvPr>
            <p:extLst>
              <p:ext uri="{D42A27DB-BD31-4B8C-83A1-F6EECF244321}">
                <p14:modId xmlns:p14="http://schemas.microsoft.com/office/powerpoint/2010/main" val="509597221"/>
              </p:ext>
            </p:extLst>
          </p:nvPr>
        </p:nvGraphicFramePr>
        <p:xfrm>
          <a:off x="1378823" y="3599143"/>
          <a:ext cx="8981404" cy="30571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B4EF01B7-82A2-E71F-0A7E-5FEFB25E1F44}"/>
            </a:ext>
          </a:extLst>
        </p:cNvPr>
        <p:cNvGrpSpPr/>
        <p:nvPr/>
      </p:nvGrpSpPr>
      <p:grpSpPr>
        <a:xfrm>
          <a:off x="0" y="0"/>
          <a:ext cx="0" cy="0"/>
          <a:chOff x="0" y="0"/>
          <a:chExt cx="0" cy="0"/>
        </a:xfrm>
      </p:grpSpPr>
      <p:sp>
        <p:nvSpPr>
          <p:cNvPr id="145" name="Google Shape;145;g38cdb4fd196_2_27">
            <a:extLst>
              <a:ext uri="{FF2B5EF4-FFF2-40B4-BE49-F238E27FC236}">
                <a16:creationId xmlns:a16="http://schemas.microsoft.com/office/drawing/2014/main" id="{F044621B-4E24-F51E-3B2F-B5E3B474FCB6}"/>
              </a:ext>
            </a:extLst>
          </p:cNvPr>
          <p:cNvSpPr txBox="1"/>
          <p:nvPr/>
        </p:nvSpPr>
        <p:spPr>
          <a:xfrm>
            <a:off x="887261" y="201719"/>
            <a:ext cx="10417500" cy="1262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4000">
                <a:solidFill>
                  <a:srgbClr val="2F5496"/>
                </a:solidFill>
                <a:latin typeface="Times New Roman"/>
                <a:ea typeface="Times New Roman"/>
                <a:cs typeface="Times New Roman"/>
                <a:sym typeface="Times New Roman"/>
              </a:rPr>
              <a:t>Model Evaluation &amp; Performance Analysis</a:t>
            </a:r>
            <a:endParaRPr/>
          </a:p>
          <a:p>
            <a:pPr marL="0" marR="0" lvl="0" indent="0" algn="l" rtl="0">
              <a:spcBef>
                <a:spcPts val="0"/>
              </a:spcBef>
              <a:spcAft>
                <a:spcPts val="0"/>
              </a:spcAft>
              <a:buNone/>
            </a:pPr>
            <a:r>
              <a:rPr lang="en-IN"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p:txBody>
      </p:sp>
      <p:pic>
        <p:nvPicPr>
          <p:cNvPr id="146" name="Google Shape;146;g38cdb4fd196_2_27">
            <a:extLst>
              <a:ext uri="{FF2B5EF4-FFF2-40B4-BE49-F238E27FC236}">
                <a16:creationId xmlns:a16="http://schemas.microsoft.com/office/drawing/2014/main" id="{8CD9AE1F-3CB2-CC0D-7569-193038112A77}"/>
              </a:ext>
            </a:extLst>
          </p:cNvPr>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47" name="Google Shape;147;g38cdb4fd196_2_27">
            <a:extLst>
              <a:ext uri="{FF2B5EF4-FFF2-40B4-BE49-F238E27FC236}">
                <a16:creationId xmlns:a16="http://schemas.microsoft.com/office/drawing/2014/main" id="{B9868538-C09A-C2C3-8EF2-765A67C7B8C6}"/>
              </a:ext>
            </a:extLst>
          </p:cNvPr>
          <p:cNvSpPr txBox="1"/>
          <p:nvPr/>
        </p:nvSpPr>
        <p:spPr>
          <a:xfrm>
            <a:off x="275725" y="1027700"/>
            <a:ext cx="11187600" cy="943305"/>
          </a:xfrm>
          <a:prstGeom prst="rect">
            <a:avLst/>
          </a:prstGeom>
          <a:noFill/>
          <a:ln>
            <a:noFill/>
          </a:ln>
        </p:spPr>
        <p:txBody>
          <a:bodyPr spcFirstLastPara="1" wrap="square" lIns="91425" tIns="91425" rIns="91425" bIns="91425" anchor="t" anchorCtr="0">
            <a:spAutoFit/>
          </a:bodyPr>
          <a:lstStyle/>
          <a:p>
            <a:endParaRPr lang="en-IN" sz="2400" dirty="0"/>
          </a:p>
          <a:p>
            <a:pPr marL="0" lvl="0" indent="0" algn="just" rtl="0">
              <a:lnSpc>
                <a:spcPct val="115000"/>
              </a:lnSpc>
              <a:spcBef>
                <a:spcPts val="0"/>
              </a:spcBef>
              <a:spcAft>
                <a:spcPts val="0"/>
              </a:spcAft>
              <a:buNone/>
            </a:pPr>
            <a:endParaRPr sz="2200" dirty="0">
              <a:solidFill>
                <a:srgbClr val="0C3571"/>
              </a:solidFill>
              <a:latin typeface="Times New Roman"/>
              <a:ea typeface="Times New Roman"/>
              <a:cs typeface="Times New Roman"/>
              <a:sym typeface="Times New Roman"/>
            </a:endParaRPr>
          </a:p>
        </p:txBody>
      </p:sp>
      <p:graphicFrame>
        <p:nvGraphicFramePr>
          <p:cNvPr id="2" name="Table 1">
            <a:extLst>
              <a:ext uri="{FF2B5EF4-FFF2-40B4-BE49-F238E27FC236}">
                <a16:creationId xmlns:a16="http://schemas.microsoft.com/office/drawing/2014/main" id="{F16B7E2B-2B42-CB2F-5CFB-759497496494}"/>
              </a:ext>
            </a:extLst>
          </p:cNvPr>
          <p:cNvGraphicFramePr>
            <a:graphicFrameLocks noGrp="1"/>
          </p:cNvGraphicFramePr>
          <p:nvPr>
            <p:extLst>
              <p:ext uri="{D42A27DB-BD31-4B8C-83A1-F6EECF244321}">
                <p14:modId xmlns:p14="http://schemas.microsoft.com/office/powerpoint/2010/main" val="832732487"/>
              </p:ext>
            </p:extLst>
          </p:nvPr>
        </p:nvGraphicFramePr>
        <p:xfrm>
          <a:off x="690716" y="2581296"/>
          <a:ext cx="10515600" cy="4236720"/>
        </p:xfrm>
        <a:graphic>
          <a:graphicData uri="http://schemas.openxmlformats.org/drawingml/2006/table">
            <a:tbl>
              <a:tblPr/>
              <a:tblGrid>
                <a:gridCol w="5257800">
                  <a:extLst>
                    <a:ext uri="{9D8B030D-6E8A-4147-A177-3AD203B41FA5}">
                      <a16:colId xmlns:a16="http://schemas.microsoft.com/office/drawing/2014/main" val="1706913577"/>
                    </a:ext>
                  </a:extLst>
                </a:gridCol>
                <a:gridCol w="5257800">
                  <a:extLst>
                    <a:ext uri="{9D8B030D-6E8A-4147-A177-3AD203B41FA5}">
                      <a16:colId xmlns:a16="http://schemas.microsoft.com/office/drawing/2014/main" val="2103700895"/>
                    </a:ext>
                  </a:extLst>
                </a:gridCol>
              </a:tblGrid>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300" b="0" i="0" u="none" strike="noStrike" cap="none" dirty="0">
                          <a:solidFill>
                            <a:srgbClr val="0C3571"/>
                          </a:solidFill>
                          <a:latin typeface="Times New Roman"/>
                          <a:cs typeface="Times New Roman"/>
                          <a:sym typeface="Arial"/>
                        </a:rPr>
                        <a:t>The trained models are evaluated using classification performance metrics.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IN" sz="2300" b="0" i="0" u="none" strike="noStrike" cap="none" dirty="0">
                        <a:solidFill>
                          <a:srgbClr val="0C3571"/>
                        </a:solidFill>
                        <a:latin typeface="Times New Roman"/>
                        <a:cs typeface="Times New Roman"/>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300" b="0" i="0" u="none" strike="noStrike" cap="none" dirty="0">
                          <a:solidFill>
                            <a:srgbClr val="0C3571"/>
                          </a:solidFill>
                          <a:latin typeface="Times New Roman"/>
                          <a:ea typeface="+mn-ea"/>
                          <a:cs typeface="Times New Roman"/>
                          <a:sym typeface="Arial"/>
                        </a:rPr>
                        <a:t>Important: Recall is particularly important because missing an actual heart disease case may have serious consequences.</a:t>
                      </a:r>
                    </a:p>
                    <a:p>
                      <a:pPr>
                        <a:buNone/>
                      </a:pPr>
                      <a:endParaRPr lang="en-IN" dirty="0"/>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255848272"/>
                  </a:ext>
                </a:extLst>
              </a:tr>
              <a:tr h="0">
                <a:tc>
                  <a:txBody>
                    <a:bodyPr/>
                    <a:lstStyle/>
                    <a:p>
                      <a:pPr>
                        <a:buNone/>
                      </a:pPr>
                      <a:endParaRPr lang="en-IN" dirty="0"/>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182710300"/>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918731093"/>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3852281719"/>
                  </a:ext>
                </a:extLst>
              </a:tr>
              <a:tr h="0">
                <a:tc>
                  <a:txBody>
                    <a:bodyPr/>
                    <a:lstStyle/>
                    <a:p>
                      <a:pPr>
                        <a:buNone/>
                      </a:pPr>
                      <a:endParaRPr lang="en-IN" dirty="0"/>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957683710"/>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973761187"/>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1362329367"/>
                  </a:ext>
                </a:extLst>
              </a:tr>
            </a:tbl>
          </a:graphicData>
        </a:graphic>
      </p:graphicFrame>
      <p:graphicFrame>
        <p:nvGraphicFramePr>
          <p:cNvPr id="5" name="Table 4">
            <a:extLst>
              <a:ext uri="{FF2B5EF4-FFF2-40B4-BE49-F238E27FC236}">
                <a16:creationId xmlns:a16="http://schemas.microsoft.com/office/drawing/2014/main" id="{A5894238-1933-85F3-9310-1BABD5212C7D}"/>
              </a:ext>
            </a:extLst>
          </p:cNvPr>
          <p:cNvGraphicFramePr>
            <a:graphicFrameLocks noGrp="1"/>
          </p:cNvGraphicFramePr>
          <p:nvPr>
            <p:extLst>
              <p:ext uri="{D42A27DB-BD31-4B8C-83A1-F6EECF244321}">
                <p14:modId xmlns:p14="http://schemas.microsoft.com/office/powerpoint/2010/main" val="100687950"/>
              </p:ext>
            </p:extLst>
          </p:nvPr>
        </p:nvGraphicFramePr>
        <p:xfrm>
          <a:off x="5948516" y="2693905"/>
          <a:ext cx="6005052" cy="2133600"/>
        </p:xfrm>
        <a:graphic>
          <a:graphicData uri="http://schemas.openxmlformats.org/drawingml/2006/table">
            <a:tbl>
              <a:tblPr>
                <a:tableStyleId>{5C22544A-7EE6-4342-B048-85BDC9FD1C3A}</a:tableStyleId>
              </a:tblPr>
              <a:tblGrid>
                <a:gridCol w="1647425">
                  <a:extLst>
                    <a:ext uri="{9D8B030D-6E8A-4147-A177-3AD203B41FA5}">
                      <a16:colId xmlns:a16="http://schemas.microsoft.com/office/drawing/2014/main" val="2165683736"/>
                    </a:ext>
                  </a:extLst>
                </a:gridCol>
                <a:gridCol w="4357627">
                  <a:extLst>
                    <a:ext uri="{9D8B030D-6E8A-4147-A177-3AD203B41FA5}">
                      <a16:colId xmlns:a16="http://schemas.microsoft.com/office/drawing/2014/main" val="2619146644"/>
                    </a:ext>
                  </a:extLst>
                </a:gridCol>
              </a:tblGrid>
              <a:tr h="0">
                <a:tc>
                  <a:txBody>
                    <a:bodyPr/>
                    <a:lstStyle/>
                    <a:p>
                      <a:pPr>
                        <a:buNone/>
                      </a:pPr>
                      <a:r>
                        <a:rPr lang="en-IN" b="1" u="sng" dirty="0"/>
                        <a:t>Metric</a:t>
                      </a:r>
                    </a:p>
                  </a:txBody>
                  <a:tcPr anchor="ctr"/>
                </a:tc>
                <a:tc>
                  <a:txBody>
                    <a:bodyPr/>
                    <a:lstStyle/>
                    <a:p>
                      <a:pPr>
                        <a:buNone/>
                      </a:pPr>
                      <a:r>
                        <a:rPr lang="en-IN" b="1" u="sng" dirty="0"/>
                        <a:t>Purpose</a:t>
                      </a:r>
                    </a:p>
                  </a:txBody>
                  <a:tcPr anchor="ctr"/>
                </a:tc>
                <a:extLst>
                  <a:ext uri="{0D108BD9-81ED-4DB2-BD59-A6C34878D82A}">
                    <a16:rowId xmlns:a16="http://schemas.microsoft.com/office/drawing/2014/main" val="2545917964"/>
                  </a:ext>
                </a:extLst>
              </a:tr>
              <a:tr h="0">
                <a:tc>
                  <a:txBody>
                    <a:bodyPr/>
                    <a:lstStyle/>
                    <a:p>
                      <a:pPr>
                        <a:buNone/>
                      </a:pPr>
                      <a:r>
                        <a:rPr lang="en-IN"/>
                        <a:t>Accuracy</a:t>
                      </a:r>
                    </a:p>
                  </a:txBody>
                  <a:tcPr anchor="ctr"/>
                </a:tc>
                <a:tc>
                  <a:txBody>
                    <a:bodyPr/>
                    <a:lstStyle/>
                    <a:p>
                      <a:pPr>
                        <a:buNone/>
                      </a:pPr>
                      <a:r>
                        <a:rPr lang="en-IN"/>
                        <a:t>Measures overall correct predictions</a:t>
                      </a:r>
                    </a:p>
                  </a:txBody>
                  <a:tcPr anchor="ctr"/>
                </a:tc>
                <a:extLst>
                  <a:ext uri="{0D108BD9-81ED-4DB2-BD59-A6C34878D82A}">
                    <a16:rowId xmlns:a16="http://schemas.microsoft.com/office/drawing/2014/main" val="2239182622"/>
                  </a:ext>
                </a:extLst>
              </a:tr>
              <a:tr h="0">
                <a:tc>
                  <a:txBody>
                    <a:bodyPr/>
                    <a:lstStyle/>
                    <a:p>
                      <a:pPr>
                        <a:buNone/>
                      </a:pPr>
                      <a:r>
                        <a:rPr lang="en-IN" dirty="0"/>
                        <a:t>Precision</a:t>
                      </a:r>
                    </a:p>
                  </a:txBody>
                  <a:tcPr anchor="ctr"/>
                </a:tc>
                <a:tc>
                  <a:txBody>
                    <a:bodyPr/>
                    <a:lstStyle/>
                    <a:p>
                      <a:pPr>
                        <a:buNone/>
                      </a:pPr>
                      <a:r>
                        <a:rPr lang="en-IN" dirty="0"/>
                        <a:t>Measures correctness of positive predictions</a:t>
                      </a:r>
                    </a:p>
                  </a:txBody>
                  <a:tcPr anchor="ctr"/>
                </a:tc>
                <a:extLst>
                  <a:ext uri="{0D108BD9-81ED-4DB2-BD59-A6C34878D82A}">
                    <a16:rowId xmlns:a16="http://schemas.microsoft.com/office/drawing/2014/main" val="31026283"/>
                  </a:ext>
                </a:extLst>
              </a:tr>
              <a:tr h="0">
                <a:tc>
                  <a:txBody>
                    <a:bodyPr/>
                    <a:lstStyle/>
                    <a:p>
                      <a:pPr>
                        <a:buNone/>
                      </a:pPr>
                      <a:r>
                        <a:rPr lang="en-IN"/>
                        <a:t>Recall (Sensitivity)</a:t>
                      </a:r>
                    </a:p>
                  </a:txBody>
                  <a:tcPr anchor="ctr"/>
                </a:tc>
                <a:tc>
                  <a:txBody>
                    <a:bodyPr/>
                    <a:lstStyle/>
                    <a:p>
                      <a:pPr>
                        <a:buNone/>
                      </a:pPr>
                      <a:r>
                        <a:rPr lang="en-IN"/>
                        <a:t>Measures detection of actual heart disease cases</a:t>
                      </a:r>
                    </a:p>
                  </a:txBody>
                  <a:tcPr anchor="ctr"/>
                </a:tc>
                <a:extLst>
                  <a:ext uri="{0D108BD9-81ED-4DB2-BD59-A6C34878D82A}">
                    <a16:rowId xmlns:a16="http://schemas.microsoft.com/office/drawing/2014/main" val="1407489536"/>
                  </a:ext>
                </a:extLst>
              </a:tr>
              <a:tr h="0">
                <a:tc>
                  <a:txBody>
                    <a:bodyPr/>
                    <a:lstStyle/>
                    <a:p>
                      <a:pPr>
                        <a:buNone/>
                      </a:pPr>
                      <a:r>
                        <a:rPr lang="en-IN" dirty="0"/>
                        <a:t>F1-Score</a:t>
                      </a:r>
                    </a:p>
                  </a:txBody>
                  <a:tcPr anchor="ctr"/>
                </a:tc>
                <a:tc>
                  <a:txBody>
                    <a:bodyPr/>
                    <a:lstStyle/>
                    <a:p>
                      <a:pPr>
                        <a:buNone/>
                      </a:pPr>
                      <a:r>
                        <a:rPr lang="en-IN" dirty="0"/>
                        <a:t>Balances Precision and Recall</a:t>
                      </a:r>
                    </a:p>
                  </a:txBody>
                  <a:tcPr anchor="ctr"/>
                </a:tc>
                <a:extLst>
                  <a:ext uri="{0D108BD9-81ED-4DB2-BD59-A6C34878D82A}">
                    <a16:rowId xmlns:a16="http://schemas.microsoft.com/office/drawing/2014/main" val="439897683"/>
                  </a:ext>
                </a:extLst>
              </a:tr>
              <a:tr h="0">
                <a:tc>
                  <a:txBody>
                    <a:bodyPr/>
                    <a:lstStyle/>
                    <a:p>
                      <a:pPr>
                        <a:buNone/>
                      </a:pPr>
                      <a:r>
                        <a:rPr lang="en-IN" dirty="0"/>
                        <a:t>Specificity</a:t>
                      </a:r>
                    </a:p>
                  </a:txBody>
                  <a:tcPr anchor="ctr"/>
                </a:tc>
                <a:tc>
                  <a:txBody>
                    <a:bodyPr/>
                    <a:lstStyle/>
                    <a:p>
                      <a:pPr>
                        <a:buNone/>
                      </a:pPr>
                      <a:r>
                        <a:rPr lang="en-IN"/>
                        <a:t>Measures detection of patients without heart disease</a:t>
                      </a:r>
                    </a:p>
                  </a:txBody>
                  <a:tcPr anchor="ctr"/>
                </a:tc>
                <a:extLst>
                  <a:ext uri="{0D108BD9-81ED-4DB2-BD59-A6C34878D82A}">
                    <a16:rowId xmlns:a16="http://schemas.microsoft.com/office/drawing/2014/main" val="3438526761"/>
                  </a:ext>
                </a:extLst>
              </a:tr>
              <a:tr h="0">
                <a:tc>
                  <a:txBody>
                    <a:bodyPr/>
                    <a:lstStyle/>
                    <a:p>
                      <a:pPr>
                        <a:buNone/>
                      </a:pPr>
                      <a:r>
                        <a:rPr lang="en-IN"/>
                        <a:t>ROC-AUC</a:t>
                      </a:r>
                    </a:p>
                  </a:txBody>
                  <a:tcPr anchor="ctr"/>
                </a:tc>
                <a:tc>
                  <a:txBody>
                    <a:bodyPr/>
                    <a:lstStyle/>
                    <a:p>
                      <a:pPr>
                        <a:buNone/>
                      </a:pPr>
                      <a:r>
                        <a:rPr lang="en-IN" dirty="0"/>
                        <a:t>Evaluates the ability to distinguish between classes</a:t>
                      </a:r>
                    </a:p>
                  </a:txBody>
                  <a:tcPr anchor="ctr"/>
                </a:tc>
                <a:extLst>
                  <a:ext uri="{0D108BD9-81ED-4DB2-BD59-A6C34878D82A}">
                    <a16:rowId xmlns:a16="http://schemas.microsoft.com/office/drawing/2014/main" val="1386683212"/>
                  </a:ext>
                </a:extLst>
              </a:tr>
            </a:tbl>
          </a:graphicData>
        </a:graphic>
      </p:graphicFrame>
    </p:spTree>
    <p:extLst>
      <p:ext uri="{BB962C8B-B14F-4D97-AF65-F5344CB8AC3E}">
        <p14:creationId xmlns:p14="http://schemas.microsoft.com/office/powerpoint/2010/main" val="1408445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2"/>
          <p:cNvSpPr txBox="1"/>
          <p:nvPr/>
        </p:nvSpPr>
        <p:spPr>
          <a:xfrm>
            <a:off x="925286" y="566057"/>
            <a:ext cx="10417500" cy="47184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rgbClr val="2F5496"/>
              </a:solidFill>
              <a:latin typeface="Times New Roman"/>
              <a:ea typeface="Times New Roman"/>
              <a:cs typeface="Times New Roman"/>
              <a:sym typeface="Times New Roman"/>
            </a:endParaRPr>
          </a:p>
          <a:p>
            <a:pPr marL="0" lvl="0" indent="0" algn="l" rtl="0">
              <a:spcBef>
                <a:spcPts val="0"/>
              </a:spcBef>
              <a:spcAft>
                <a:spcPts val="0"/>
              </a:spcAft>
              <a:buClr>
                <a:schemeClr val="dk1"/>
              </a:buClr>
              <a:buFont typeface="Arial"/>
              <a:buNone/>
            </a:pPr>
            <a:r>
              <a:rPr lang="en-IN" sz="4000" dirty="0">
                <a:solidFill>
                  <a:srgbClr val="2F5496"/>
                </a:solidFill>
                <a:latin typeface="Times New Roman"/>
                <a:ea typeface="Times New Roman"/>
                <a:cs typeface="Times New Roman"/>
                <a:sym typeface="Times New Roman"/>
              </a:rPr>
              <a:t>Stream API Deployment (</a:t>
            </a:r>
            <a:r>
              <a:rPr lang="en-IN" sz="4000" dirty="0" err="1">
                <a:solidFill>
                  <a:srgbClr val="2F5496"/>
                </a:solidFill>
                <a:latin typeface="Times New Roman"/>
                <a:ea typeface="Times New Roman"/>
                <a:cs typeface="Times New Roman"/>
                <a:sym typeface="Times New Roman"/>
              </a:rPr>
              <a:t>Streamlit</a:t>
            </a:r>
            <a:r>
              <a:rPr lang="en-IN" sz="4000" dirty="0">
                <a:solidFill>
                  <a:srgbClr val="2F5496"/>
                </a:solidFill>
                <a:latin typeface="Times New Roman"/>
                <a:ea typeface="Times New Roman"/>
                <a:cs typeface="Times New Roman"/>
                <a:sym typeface="Times New Roman"/>
              </a:rPr>
              <a:t>)</a:t>
            </a:r>
            <a:endParaRPr sz="4000" dirty="0">
              <a:solidFill>
                <a:srgbClr val="2F5496"/>
              </a:solidFill>
              <a:latin typeface="Times New Roman"/>
              <a:ea typeface="Times New Roman"/>
              <a:cs typeface="Times New Roman"/>
              <a:sym typeface="Times New Roman"/>
            </a:endParaRPr>
          </a:p>
          <a:p>
            <a:pPr marL="0" lvl="0" indent="0" algn="l" rtl="0">
              <a:lnSpc>
                <a:spcPct val="115000"/>
              </a:lnSpc>
              <a:spcBef>
                <a:spcPts val="1400"/>
              </a:spcBef>
              <a:spcAft>
                <a:spcPts val="0"/>
              </a:spcAft>
              <a:buClr>
                <a:schemeClr val="dk1"/>
              </a:buClr>
              <a:buSzPts val="1100"/>
              <a:buFont typeface="Arial"/>
              <a:buNone/>
            </a:pPr>
            <a:endParaRPr sz="1300" b="1" dirty="0">
              <a:solidFill>
                <a:srgbClr val="2F5496"/>
              </a:solidFill>
            </a:endParaRPr>
          </a:p>
          <a:p>
            <a:pPr marL="342900" lvl="0" indent="-342900">
              <a:buFont typeface="Arial" panose="020B0604020202020204" pitchFamily="34" charset="0"/>
              <a:buChar char="•"/>
            </a:pPr>
            <a:r>
              <a:rPr lang="en-IN" sz="2300" dirty="0">
                <a:solidFill>
                  <a:srgbClr val="0C3571"/>
                </a:solidFill>
                <a:latin typeface="Times New Roman"/>
                <a:cs typeface="Times New Roman"/>
              </a:rPr>
              <a:t>Interactive Web Interface: Develop a user-friendly application using </a:t>
            </a:r>
            <a:r>
              <a:rPr lang="en-IN" sz="2300" dirty="0" err="1">
                <a:solidFill>
                  <a:srgbClr val="0C3571"/>
                </a:solidFill>
                <a:latin typeface="Times New Roman"/>
                <a:cs typeface="Times New Roman"/>
              </a:rPr>
              <a:t>Streamlit</a:t>
            </a:r>
            <a:r>
              <a:rPr lang="en-IN" sz="2300" dirty="0">
                <a:solidFill>
                  <a:srgbClr val="0C3571"/>
                </a:solidFill>
                <a:latin typeface="Times New Roman"/>
                <a:cs typeface="Times New Roman"/>
              </a:rPr>
              <a:t>.</a:t>
            </a:r>
          </a:p>
          <a:p>
            <a:pPr marL="342900" lvl="0" indent="-342900">
              <a:buFont typeface="Arial" panose="020B0604020202020204" pitchFamily="34" charset="0"/>
              <a:buChar char="•"/>
            </a:pPr>
            <a:r>
              <a:rPr lang="en-IN" sz="2300" dirty="0">
                <a:solidFill>
                  <a:srgbClr val="0C3571"/>
                </a:solidFill>
                <a:latin typeface="Times New Roman"/>
                <a:cs typeface="Times New Roman"/>
              </a:rPr>
              <a:t>Patient Data Input: Users enter 13 clinical parameters, including age, blood pressure, cholesterol, and chest pain type.</a:t>
            </a:r>
          </a:p>
          <a:p>
            <a:pPr marL="342900" lvl="0" indent="-342900">
              <a:buFont typeface="Arial" panose="020B0604020202020204" pitchFamily="34" charset="0"/>
              <a:buChar char="•"/>
            </a:pPr>
            <a:r>
              <a:rPr lang="en-IN" sz="2300" dirty="0">
                <a:solidFill>
                  <a:srgbClr val="0C3571"/>
                </a:solidFill>
                <a:latin typeface="Times New Roman"/>
                <a:cs typeface="Times New Roman"/>
              </a:rPr>
              <a:t>Model Integration: Integrate the trained machine learning model with the </a:t>
            </a:r>
            <a:r>
              <a:rPr lang="en-IN" sz="2300" dirty="0" err="1">
                <a:solidFill>
                  <a:srgbClr val="0C3571"/>
                </a:solidFill>
                <a:latin typeface="Times New Roman"/>
                <a:cs typeface="Times New Roman"/>
              </a:rPr>
              <a:t>Streamlit</a:t>
            </a:r>
            <a:r>
              <a:rPr lang="en-IN" sz="2300" dirty="0">
                <a:solidFill>
                  <a:srgbClr val="0C3571"/>
                </a:solidFill>
                <a:latin typeface="Times New Roman"/>
                <a:cs typeface="Times New Roman"/>
              </a:rPr>
              <a:t> application.</a:t>
            </a:r>
          </a:p>
          <a:p>
            <a:pPr marL="342900" lvl="0" indent="-342900">
              <a:buFont typeface="Arial" panose="020B0604020202020204" pitchFamily="34" charset="0"/>
              <a:buChar char="•"/>
            </a:pPr>
            <a:r>
              <a:rPr lang="en-IN" sz="2300" dirty="0">
                <a:solidFill>
                  <a:srgbClr val="0C3571"/>
                </a:solidFill>
                <a:latin typeface="Times New Roman"/>
                <a:cs typeface="Times New Roman"/>
              </a:rPr>
              <a:t>Data Processing: Process and validate user inputs before passing them to the model.</a:t>
            </a:r>
          </a:p>
          <a:p>
            <a:pPr marL="342900" lvl="0" indent="-342900">
              <a:buFont typeface="Arial" panose="020B0604020202020204" pitchFamily="34" charset="0"/>
              <a:buChar char="•"/>
            </a:pPr>
            <a:r>
              <a:rPr lang="en-IN" sz="2300" dirty="0">
                <a:solidFill>
                  <a:srgbClr val="0C3571"/>
                </a:solidFill>
                <a:latin typeface="Times New Roman"/>
                <a:cs typeface="Times New Roman"/>
              </a:rPr>
              <a:t>Real-Time Prediction: Predict whether heart disease is present or absent.</a:t>
            </a:r>
          </a:p>
          <a:p>
            <a:pPr marL="342900" lvl="0" indent="-342900">
              <a:buFont typeface="Arial" panose="020B0604020202020204" pitchFamily="34" charset="0"/>
              <a:buChar char="•"/>
            </a:pPr>
            <a:r>
              <a:rPr lang="en-IN" sz="2300" dirty="0">
                <a:solidFill>
                  <a:srgbClr val="0C3571"/>
                </a:solidFill>
                <a:latin typeface="Times New Roman"/>
                <a:cs typeface="Times New Roman"/>
              </a:rPr>
              <a:t>Result Visualization: Display prediction results clearly on the web interface.</a:t>
            </a:r>
          </a:p>
          <a:p>
            <a:pPr marL="0" lvl="0" indent="0" algn="l" rtl="0">
              <a:spcBef>
                <a:spcPts val="1200"/>
              </a:spcBef>
              <a:spcAft>
                <a:spcPts val="0"/>
              </a:spcAft>
              <a:buNone/>
            </a:pPr>
            <a:endParaRPr sz="2200" dirty="0">
              <a:solidFill>
                <a:srgbClr val="2F5496"/>
              </a:solidFill>
              <a:latin typeface="Times New Roman"/>
              <a:ea typeface="Times New Roman"/>
              <a:cs typeface="Times New Roman"/>
              <a:sym typeface="Times New Roman"/>
            </a:endParaRPr>
          </a:p>
        </p:txBody>
      </p:sp>
      <p:pic>
        <p:nvPicPr>
          <p:cNvPr id="153" name="Google Shape;153;p12"/>
          <p:cNvPicPr preferRelativeResize="0"/>
          <p:nvPr/>
        </p:nvPicPr>
        <p:blipFill rotWithShape="1">
          <a:blip r:embed="rId3">
            <a:alphaModFix/>
          </a:blip>
          <a:srcRect/>
          <a:stretch/>
        </p:blipFill>
        <p:spPr>
          <a:xfrm>
            <a:off x="10232571" y="304800"/>
            <a:ext cx="1578429" cy="105591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1"/>
          <p:cNvSpPr txBox="1"/>
          <p:nvPr/>
        </p:nvSpPr>
        <p:spPr>
          <a:xfrm>
            <a:off x="925286" y="566057"/>
            <a:ext cx="10417500" cy="5649198"/>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endParaRPr sz="2200" dirty="0">
              <a:solidFill>
                <a:srgbClr val="2F5496"/>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None/>
            </a:pPr>
            <a:r>
              <a:rPr lang="en-IN" sz="2800" dirty="0">
                <a:solidFill>
                  <a:srgbClr val="2F5496"/>
                </a:solidFill>
                <a:latin typeface="Times New Roman"/>
                <a:ea typeface="Times New Roman"/>
                <a:cs typeface="Times New Roman"/>
                <a:sym typeface="Times New Roman"/>
              </a:rPr>
              <a:t>Docker Deployment </a:t>
            </a:r>
            <a:br>
              <a:rPr lang="en-IN" sz="2800" dirty="0">
                <a:solidFill>
                  <a:srgbClr val="2F5496"/>
                </a:solidFill>
                <a:latin typeface="Times New Roman"/>
                <a:ea typeface="Times New Roman"/>
                <a:cs typeface="Times New Roman"/>
                <a:sym typeface="Times New Roman"/>
              </a:rPr>
            </a:br>
            <a:endParaRPr sz="2200" dirty="0">
              <a:solidFill>
                <a:srgbClr val="2F5496"/>
              </a:solidFill>
              <a:latin typeface="Times New Roman"/>
              <a:ea typeface="Times New Roman"/>
              <a:cs typeface="Times New Roman"/>
              <a:sym typeface="Times New Roman"/>
            </a:endParaRPr>
          </a:p>
          <a:p>
            <a:r>
              <a:rPr lang="en-IN" sz="2300" dirty="0">
                <a:solidFill>
                  <a:srgbClr val="0C3571"/>
                </a:solidFill>
                <a:latin typeface="Times New Roman"/>
                <a:ea typeface="+mn-ea"/>
                <a:cs typeface="Times New Roman"/>
              </a:rPr>
              <a:t>Purpose: Package the prediction API and its dependencies into a portable container.</a:t>
            </a:r>
          </a:p>
          <a:p>
            <a:pPr marL="342900" lvl="8" indent="-342900">
              <a:buFont typeface="Arial" panose="020B0604020202020204" pitchFamily="34" charset="0"/>
              <a:buChar char="•"/>
            </a:pPr>
            <a:r>
              <a:rPr lang="en-IN" sz="2300" dirty="0">
                <a:solidFill>
                  <a:srgbClr val="0C3571"/>
                </a:solidFill>
                <a:latin typeface="Times New Roman"/>
                <a:ea typeface="+mn-ea"/>
                <a:cs typeface="Times New Roman"/>
              </a:rPr>
              <a:t>Create a </a:t>
            </a:r>
            <a:r>
              <a:rPr lang="en-IN" sz="2300" dirty="0" err="1">
                <a:solidFill>
                  <a:srgbClr val="0C3571"/>
                </a:solidFill>
                <a:latin typeface="Times New Roman"/>
                <a:ea typeface="+mn-ea"/>
                <a:cs typeface="Times New Roman"/>
              </a:rPr>
              <a:t>Dockerfile</a:t>
            </a:r>
            <a:r>
              <a:rPr lang="en-IN" sz="2300" dirty="0">
                <a:solidFill>
                  <a:srgbClr val="0C3571"/>
                </a:solidFill>
                <a:latin typeface="Times New Roman"/>
                <a:ea typeface="+mn-ea"/>
                <a:cs typeface="Times New Roman"/>
              </a:rPr>
              <a:t> for the application.</a:t>
            </a:r>
          </a:p>
          <a:p>
            <a:pPr marL="342900" lvl="8" indent="-342900">
              <a:buFont typeface="Arial" panose="020B0604020202020204" pitchFamily="34" charset="0"/>
              <a:buChar char="•"/>
            </a:pPr>
            <a:r>
              <a:rPr lang="en-IN" sz="2300" dirty="0">
                <a:solidFill>
                  <a:srgbClr val="0C3571"/>
                </a:solidFill>
                <a:latin typeface="Times New Roman"/>
                <a:ea typeface="+mn-ea"/>
                <a:cs typeface="Times New Roman"/>
              </a:rPr>
              <a:t>Include Python, required libraries, and the trained model.</a:t>
            </a:r>
          </a:p>
          <a:p>
            <a:pPr marL="342900" lvl="8" indent="-342900">
              <a:buFont typeface="Arial" panose="020B0604020202020204" pitchFamily="34" charset="0"/>
              <a:buChar char="•"/>
            </a:pPr>
            <a:r>
              <a:rPr lang="en-IN" sz="2300" dirty="0">
                <a:solidFill>
                  <a:srgbClr val="0C3571"/>
                </a:solidFill>
                <a:latin typeface="Times New Roman"/>
                <a:ea typeface="+mn-ea"/>
                <a:cs typeface="Times New Roman"/>
              </a:rPr>
              <a:t>Build a Docker image containing the </a:t>
            </a:r>
            <a:r>
              <a:rPr lang="en-IN" sz="2300" dirty="0" err="1">
                <a:solidFill>
                  <a:srgbClr val="0C3571"/>
                </a:solidFill>
                <a:latin typeface="Times New Roman"/>
                <a:ea typeface="+mn-ea"/>
                <a:cs typeface="Times New Roman"/>
              </a:rPr>
              <a:t>FastAPI</a:t>
            </a:r>
            <a:r>
              <a:rPr lang="en-IN" sz="2300" dirty="0">
                <a:solidFill>
                  <a:srgbClr val="0C3571"/>
                </a:solidFill>
                <a:latin typeface="Times New Roman"/>
                <a:ea typeface="+mn-ea"/>
                <a:cs typeface="Times New Roman"/>
              </a:rPr>
              <a:t> application.</a:t>
            </a:r>
          </a:p>
          <a:p>
            <a:pPr marL="342900" lvl="8" indent="-342900">
              <a:buFont typeface="Arial" panose="020B0604020202020204" pitchFamily="34" charset="0"/>
              <a:buChar char="•"/>
            </a:pPr>
            <a:r>
              <a:rPr lang="en-IN" sz="2300" dirty="0">
                <a:solidFill>
                  <a:srgbClr val="0C3571"/>
                </a:solidFill>
                <a:latin typeface="Times New Roman"/>
                <a:ea typeface="+mn-ea"/>
                <a:cs typeface="Times New Roman"/>
              </a:rPr>
              <a:t>Run the application inside a Docker container.</a:t>
            </a:r>
          </a:p>
          <a:p>
            <a:pPr marL="342900" lvl="8" indent="-342900">
              <a:buFont typeface="Arial" panose="020B0604020202020204" pitchFamily="34" charset="0"/>
              <a:buChar char="•"/>
            </a:pPr>
            <a:r>
              <a:rPr lang="en-IN" sz="2300" dirty="0">
                <a:solidFill>
                  <a:srgbClr val="0C3571"/>
                </a:solidFill>
                <a:latin typeface="Times New Roman"/>
                <a:ea typeface="+mn-ea"/>
                <a:cs typeface="Times New Roman"/>
              </a:rPr>
              <a:t>Access the prediction API through an exposed port.</a:t>
            </a:r>
          </a:p>
          <a:p>
            <a:r>
              <a:rPr lang="en-IN" sz="2300" dirty="0">
                <a:solidFill>
                  <a:srgbClr val="0C3571"/>
                </a:solidFill>
                <a:latin typeface="Times New Roman"/>
                <a:ea typeface="+mn-ea"/>
                <a:cs typeface="Times New Roman"/>
              </a:rPr>
              <a:t>Benefits:</a:t>
            </a:r>
          </a:p>
          <a:p>
            <a:pPr marL="342900" lvl="0" indent="-342900">
              <a:buFont typeface="Arial" panose="020B0604020202020204" pitchFamily="34" charset="0"/>
              <a:buChar char="•"/>
            </a:pPr>
            <a:r>
              <a:rPr lang="en-IN" sz="2300" dirty="0">
                <a:solidFill>
                  <a:srgbClr val="0C3571"/>
                </a:solidFill>
                <a:latin typeface="Times New Roman"/>
                <a:ea typeface="+mn-ea"/>
                <a:cs typeface="Times New Roman"/>
              </a:rPr>
              <a:t>Consistent execution environment</a:t>
            </a:r>
          </a:p>
          <a:p>
            <a:pPr marL="342900" lvl="0" indent="-342900">
              <a:buFont typeface="Arial" panose="020B0604020202020204" pitchFamily="34" charset="0"/>
              <a:buChar char="•"/>
            </a:pPr>
            <a:r>
              <a:rPr lang="en-IN" sz="2300" dirty="0">
                <a:solidFill>
                  <a:srgbClr val="0C3571"/>
                </a:solidFill>
                <a:latin typeface="Times New Roman"/>
                <a:ea typeface="+mn-ea"/>
                <a:cs typeface="Times New Roman"/>
              </a:rPr>
              <a:t>Easy application deployment</a:t>
            </a:r>
          </a:p>
          <a:p>
            <a:pPr marL="342900" lvl="0" indent="-342900">
              <a:buFont typeface="Arial" panose="020B0604020202020204" pitchFamily="34" charset="0"/>
              <a:buChar char="•"/>
            </a:pPr>
            <a:r>
              <a:rPr lang="en-IN" sz="2300" dirty="0">
                <a:solidFill>
                  <a:srgbClr val="0C3571"/>
                </a:solidFill>
                <a:latin typeface="Times New Roman"/>
                <a:ea typeface="+mn-ea"/>
                <a:cs typeface="Times New Roman"/>
              </a:rPr>
              <a:t>Portability across different systems</a:t>
            </a:r>
          </a:p>
          <a:p>
            <a:pPr marL="342900" lvl="0" indent="-342900">
              <a:buFont typeface="Arial" panose="020B0604020202020204" pitchFamily="34" charset="0"/>
              <a:buChar char="•"/>
            </a:pPr>
            <a:r>
              <a:rPr lang="en-IN" sz="2300" dirty="0">
                <a:solidFill>
                  <a:srgbClr val="0C3571"/>
                </a:solidFill>
                <a:latin typeface="Times New Roman"/>
                <a:ea typeface="+mn-ea"/>
                <a:cs typeface="Times New Roman"/>
              </a:rPr>
              <a:t>Simplified dependency management</a:t>
            </a:r>
          </a:p>
          <a:p>
            <a:pPr marL="0" lvl="0" indent="0" algn="just" rtl="0">
              <a:lnSpc>
                <a:spcPct val="115000"/>
              </a:lnSpc>
              <a:spcBef>
                <a:spcPts val="0"/>
              </a:spcBef>
              <a:spcAft>
                <a:spcPts val="0"/>
              </a:spcAft>
              <a:buNone/>
            </a:pPr>
            <a:endParaRPr sz="2200" dirty="0">
              <a:solidFill>
                <a:srgbClr val="2F5496"/>
              </a:solidFill>
              <a:latin typeface="Times New Roman"/>
              <a:ea typeface="Times New Roman"/>
              <a:cs typeface="Times New Roman"/>
              <a:sym typeface="Times New Roman"/>
            </a:endParaRPr>
          </a:p>
        </p:txBody>
      </p:sp>
      <p:pic>
        <p:nvPicPr>
          <p:cNvPr id="159" name="Google Shape;159;p11"/>
          <p:cNvPicPr preferRelativeResize="0"/>
          <p:nvPr/>
        </p:nvPicPr>
        <p:blipFill rotWithShape="1">
          <a:blip r:embed="rId3">
            <a:alphaModFix/>
          </a:blip>
          <a:srcRect/>
          <a:stretch/>
        </p:blipFill>
        <p:spPr>
          <a:xfrm>
            <a:off x="10232571" y="304800"/>
            <a:ext cx="1578429" cy="105591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3"/>
          <p:cNvSpPr txBox="1"/>
          <p:nvPr/>
        </p:nvSpPr>
        <p:spPr>
          <a:xfrm>
            <a:off x="887186" y="650107"/>
            <a:ext cx="10417500" cy="339627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rgbClr val="2F5496"/>
              </a:solidFill>
              <a:latin typeface="Times New Roman"/>
              <a:ea typeface="Times New Roman"/>
              <a:cs typeface="Times New Roman"/>
              <a:sym typeface="Times New Roman"/>
            </a:endParaRPr>
          </a:p>
          <a:p>
            <a:pPr marL="0" marR="0" lvl="0" indent="0" algn="l" rtl="0">
              <a:spcBef>
                <a:spcPts val="0"/>
              </a:spcBef>
              <a:spcAft>
                <a:spcPts val="0"/>
              </a:spcAft>
              <a:buNone/>
            </a:pPr>
            <a:r>
              <a:rPr lang="en-IN" sz="2800" b="1" dirty="0">
                <a:solidFill>
                  <a:srgbClr val="2F5496"/>
                </a:solidFill>
                <a:latin typeface="Times New Roman"/>
                <a:ea typeface="Times New Roman"/>
                <a:cs typeface="Times New Roman"/>
                <a:sym typeface="Times New Roman"/>
              </a:rPr>
              <a:t>Conclusion</a:t>
            </a:r>
          </a:p>
          <a:p>
            <a:pPr marL="0" marR="0" lvl="0" indent="0" algn="l" rtl="0">
              <a:spcBef>
                <a:spcPts val="0"/>
              </a:spcBef>
              <a:spcAft>
                <a:spcPts val="0"/>
              </a:spcAft>
              <a:buNone/>
            </a:pPr>
            <a:endParaRPr sz="2800" b="1" dirty="0">
              <a:solidFill>
                <a:srgbClr val="2F5496"/>
              </a:solidFill>
              <a:latin typeface="Times New Roman"/>
              <a:ea typeface="Times New Roman"/>
              <a:cs typeface="Times New Roman"/>
              <a:sym typeface="Times New Roman"/>
            </a:endParaRPr>
          </a:p>
          <a:p>
            <a:pPr lvl="0"/>
            <a:r>
              <a:rPr lang="en-IN" sz="2200" dirty="0">
                <a:solidFill>
                  <a:srgbClr val="2F5496"/>
                </a:solidFill>
                <a:latin typeface="Times New Roman"/>
                <a:cs typeface="Times New Roman"/>
              </a:rPr>
              <a:t>Explored a heart disease dataset containing 400 patient records and 13 clinical features. Established a workflow for data preprocessing, classification, and model evaluation. Selected four supervised learning algorithms for comparison. Designed a prediction workflow to support early heart disease risk identification. Proposed deployment using </a:t>
            </a:r>
            <a:r>
              <a:rPr lang="en-IN" sz="2200" dirty="0" err="1">
                <a:solidFill>
                  <a:srgbClr val="2F5496"/>
                </a:solidFill>
                <a:latin typeface="Times New Roman"/>
                <a:cs typeface="Times New Roman"/>
              </a:rPr>
              <a:t>FastAPI</a:t>
            </a:r>
            <a:r>
              <a:rPr lang="en-IN" sz="2200" dirty="0">
                <a:solidFill>
                  <a:srgbClr val="2F5496"/>
                </a:solidFill>
                <a:latin typeface="Times New Roman"/>
                <a:cs typeface="Times New Roman"/>
              </a:rPr>
              <a:t> and Docker.</a:t>
            </a:r>
          </a:p>
          <a:p>
            <a:pPr marL="0" lvl="0" indent="0" algn="l" rtl="0">
              <a:lnSpc>
                <a:spcPct val="115000"/>
              </a:lnSpc>
              <a:spcBef>
                <a:spcPts val="1200"/>
              </a:spcBef>
              <a:spcAft>
                <a:spcPts val="0"/>
              </a:spcAft>
              <a:buClr>
                <a:schemeClr val="dk1"/>
              </a:buClr>
              <a:buSzPts val="1100"/>
              <a:buFont typeface="Arial"/>
              <a:buNone/>
            </a:pPr>
            <a:endParaRPr sz="1800" dirty="0">
              <a:solidFill>
                <a:srgbClr val="2F5496"/>
              </a:solidFill>
              <a:latin typeface="Times New Roman"/>
              <a:ea typeface="Times New Roman"/>
              <a:cs typeface="Times New Roman"/>
              <a:sym typeface="Times New Roman"/>
            </a:endParaRPr>
          </a:p>
        </p:txBody>
      </p:sp>
      <p:pic>
        <p:nvPicPr>
          <p:cNvPr id="165" name="Google Shape;165;p13"/>
          <p:cNvPicPr preferRelativeResize="0"/>
          <p:nvPr/>
        </p:nvPicPr>
        <p:blipFill rotWithShape="1">
          <a:blip r:embed="rId3">
            <a:alphaModFix/>
          </a:blip>
          <a:srcRect/>
          <a:stretch/>
        </p:blipFill>
        <p:spPr>
          <a:xfrm>
            <a:off x="10232571" y="304800"/>
            <a:ext cx="1578429" cy="105591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4"/>
          <p:cNvSpPr txBox="1"/>
          <p:nvPr/>
        </p:nvSpPr>
        <p:spPr>
          <a:xfrm>
            <a:off x="903457" y="673906"/>
            <a:ext cx="10385100" cy="2493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IN" sz="8000">
                <a:solidFill>
                  <a:srgbClr val="2F5496"/>
                </a:solidFill>
                <a:latin typeface="Times New Roman"/>
                <a:ea typeface="Times New Roman"/>
                <a:cs typeface="Times New Roman"/>
                <a:sym typeface="Times New Roman"/>
              </a:rPr>
              <a:t>Any Queries ???</a:t>
            </a:r>
            <a:br>
              <a:rPr lang="en-IN" sz="8000">
                <a:solidFill>
                  <a:srgbClr val="2F5496"/>
                </a:solidFill>
                <a:latin typeface="Times New Roman"/>
                <a:ea typeface="Times New Roman"/>
                <a:cs typeface="Times New Roman"/>
                <a:sym typeface="Times New Roman"/>
              </a:rPr>
            </a:br>
            <a:endParaRPr sz="4000">
              <a:solidFill>
                <a:srgbClr val="2F5496"/>
              </a:solidFill>
              <a:latin typeface="Times New Roman"/>
              <a:ea typeface="Times New Roman"/>
              <a:cs typeface="Times New Roman"/>
              <a:sym typeface="Times New Roman"/>
            </a:endParaRPr>
          </a:p>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pic>
        <p:nvPicPr>
          <p:cNvPr id="171" name="Google Shape;171;p14"/>
          <p:cNvPicPr preferRelativeResize="0"/>
          <p:nvPr/>
        </p:nvPicPr>
        <p:blipFill rotWithShape="1">
          <a:blip r:embed="rId3">
            <a:alphaModFix/>
          </a:blip>
          <a:srcRect/>
          <a:stretch/>
        </p:blipFill>
        <p:spPr>
          <a:xfrm>
            <a:off x="10232571" y="304800"/>
            <a:ext cx="1578429" cy="105591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938</Words>
  <Application>Microsoft Office PowerPoint</Application>
  <PresentationFormat>Widescreen</PresentationFormat>
  <Paragraphs>160</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Anta</vt:lpstr>
      <vt:lpstr>Arial</vt:lpstr>
      <vt:lpstr>Calibri</vt:lpstr>
      <vt:lpstr>Times New Roman</vt:lpstr>
      <vt:lpstr>Office Theme</vt:lpstr>
      <vt:lpstr>     Capstone Project 2  HEART DISEASE DETECTION USING CLASSIFICATION ALGORITHMS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TNS INDIA FOUNDATION</dc:creator>
  <cp:lastModifiedBy>Sankalp Patil</cp:lastModifiedBy>
  <cp:revision>1</cp:revision>
  <dcterms:created xsi:type="dcterms:W3CDTF">2025-09-02T04:26:51Z</dcterms:created>
  <dcterms:modified xsi:type="dcterms:W3CDTF">2026-10-18T06:52:21Z</dcterms:modified>
</cp:coreProperties>
</file>